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33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8229600" cy="2377440"/>
          </a:xfrm>
          <a:prstGeom prst="rect">
            <a:avLst/>
          </a:prstGeom>
          <a:solidFill>
            <a:srgbClr val="33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BBE0E3"/>
                </a:solidFill>
                <a:latin typeface="メイリオ"/>
              </a:rPr>
              <a:t>tenkizu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メイリオ"/>
              </a:rPr>
              <a:t>天気図作成ツール（GSM / ECMWF）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メイリオ"/>
              </a:rPr>
              <a:t>GSM・ECMWF GRIB2データから各種高層・地上天気図を自動生成するPythonツール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404040"/>
                </a:solidFill>
                <a:latin typeface="メイリオ"/>
              </a:rPr>
              <a:t>Python 3.10  |  conda: met_env_310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2D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3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</a:rPr>
              <a:t>概要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BB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2011680" cy="704088"/>
          </a:xfrm>
          <a:prstGeom prst="rect">
            <a:avLst/>
          </a:prstGeom>
          <a:solidFill>
            <a:srgbClr val="33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6187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</a:rPr>
              <a:t>対応データ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1234440"/>
            <a:ext cx="6309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メイリオ"/>
              </a:rPr>
              <a:t>気象庁 GSM（全球モデル）・ECMWF（欧州中期予報センター）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74520"/>
            <a:ext cx="2011680" cy="704088"/>
          </a:xfrm>
          <a:prstGeom prst="rect">
            <a:avLst/>
          </a:prstGeom>
          <a:solidFill>
            <a:srgbClr val="33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03911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</a:rPr>
              <a:t>スクリプト数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011680"/>
            <a:ext cx="6309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メイリオ"/>
              </a:rPr>
              <a:t>描画スクリプト 16種類（GSM 11本・ECM 6本）＋レポート生成 3本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51760"/>
            <a:ext cx="2011680" cy="704088"/>
          </a:xfrm>
          <a:prstGeom prst="rect">
            <a:avLst/>
          </a:prstGeom>
          <a:solidFill>
            <a:srgbClr val="33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81635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</a:rPr>
              <a:t>図法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788920"/>
            <a:ext cx="6309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メイリオ"/>
              </a:rPr>
              <a:t>ステレオ投影（中心: 60°N, 140°E）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429000"/>
            <a:ext cx="2011680" cy="704088"/>
          </a:xfrm>
          <a:prstGeom prst="rect">
            <a:avLst/>
          </a:prstGeom>
          <a:solidFill>
            <a:srgbClr val="33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59359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</a:rPr>
              <a:t>描画領域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3566160"/>
            <a:ext cx="6309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メイリオ"/>
              </a:rPr>
              <a:t>108〜156°E, 17〜55°N（極東域）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206240"/>
            <a:ext cx="2011680" cy="704088"/>
          </a:xfrm>
          <a:prstGeom prst="rect">
            <a:avLst/>
          </a:prstGeom>
          <a:solidFill>
            <a:srgbClr val="33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437083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</a:rPr>
              <a:t>出力形式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4343400"/>
            <a:ext cx="6309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メイリオ"/>
              </a:rPr>
              <a:t>PNG（DPI 150、10×8インチ）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983480"/>
            <a:ext cx="2011680" cy="704088"/>
          </a:xfrm>
          <a:prstGeom prst="rect">
            <a:avLst/>
          </a:prstGeom>
          <a:solidFill>
            <a:srgbClr val="33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514807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</a:rPr>
              <a:t>実行環境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5120640"/>
            <a:ext cx="6309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メイリオ"/>
              </a:rPr>
              <a:t>Python 3.10（conda 環境 met_env_310）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04040"/>
                </a:solidFill>
                <a:latin typeface="メイリオ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3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</a:rPr>
              <a:t>データソース ①: GSM（気象庁 全球モデル）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BB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612648"/>
          </a:xfrm>
          <a:prstGeom prst="rect">
            <a:avLst/>
          </a:prstGeom>
          <a:solidFill>
            <a:srgbClr val="BB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99"/>
                </a:solidFill>
                <a:latin typeface="メイリオ"/>
              </a:rPr>
              <a:t>提供元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188720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メイリオ"/>
              </a:rPr>
              <a:t>京都大学生存圏研究所 (RISH) データベース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755648"/>
            <a:ext cx="859536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84708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99"/>
                </a:solidFill>
                <a:latin typeface="メイリオ"/>
              </a:rPr>
              <a:t>更新頻度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1847088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メイリオ"/>
              </a:rPr>
              <a:t>1日2回（00UTC・12UTC）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414016"/>
            <a:ext cx="8595360" cy="612648"/>
          </a:xfrm>
          <a:prstGeom prst="rect">
            <a:avLst/>
          </a:prstGeom>
          <a:solidFill>
            <a:srgbClr val="BB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50545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99"/>
                </a:solidFill>
                <a:latin typeface="メイリオ"/>
              </a:rPr>
              <a:t>利用可能期間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2505456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メイリオ"/>
              </a:rPr>
              <a:t>過去データも無償取得可（長期アーカイブ）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72384"/>
            <a:ext cx="859536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316382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99"/>
                </a:solidFill>
                <a:latin typeface="メイリオ"/>
              </a:rPr>
              <a:t>ファイル形式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3163824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メイリオ"/>
              </a:rPr>
              <a:t>GRIB2（.bin 拡張子）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730752"/>
            <a:ext cx="8595360" cy="612648"/>
          </a:xfrm>
          <a:prstGeom prst="rect">
            <a:avLst/>
          </a:prstGeom>
          <a:solidFill>
            <a:srgbClr val="BB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382219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99"/>
                </a:solidFill>
                <a:latin typeface="メイリオ"/>
              </a:rPr>
              <a:t>水平解像度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3822192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メイリオ"/>
              </a:rPr>
              <a:t>約13km（0.125°）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389120"/>
            <a:ext cx="859536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44805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99"/>
                </a:solidFill>
                <a:latin typeface="メイリオ"/>
              </a:rPr>
              <a:t>予報時間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4480560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メイリオ"/>
              </a:rPr>
              <a:t>0〜264h（〜72h: 6h間隔、72h〜: 12h間隔）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047488"/>
            <a:ext cx="8595360" cy="612648"/>
          </a:xfrm>
          <a:prstGeom prst="rect">
            <a:avLst/>
          </a:prstGeom>
          <a:solidFill>
            <a:srgbClr val="BB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513892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99"/>
                </a:solidFill>
                <a:latin typeface="メイリオ"/>
              </a:rPr>
              <a:t>収録変数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138928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メイリオ"/>
              </a:rPr>
              <a:t>gh, t, u, v, w, r（高層）/ prmsl, sp, 10m風, 2m気温, 雲量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705856"/>
            <a:ext cx="859536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579729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99"/>
                </a:solidFill>
                <a:latin typeface="メイリオ"/>
              </a:rPr>
              <a:t>注意点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797296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メイリオ"/>
              </a:rPr>
              <a:t>可降水量(tcwv)・積算降水量(tp) は Rglファイルに含まれない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04040"/>
                </a:solidFill>
                <a:latin typeface="メイリオ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3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</a:rPr>
              <a:t>データソース ②: ECMWF（欧州中期予報センター）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BB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612648"/>
          </a:xfrm>
          <a:prstGeom prst="rect">
            <a:avLst/>
          </a:prstGeom>
          <a:solidFill>
            <a:srgbClr val="BB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99"/>
                </a:solidFill>
                <a:latin typeface="メイリオ"/>
              </a:rPr>
              <a:t>提供元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188720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メイリオ"/>
              </a:rPr>
              <a:t>ECMWF Open Data（無償公開）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755648"/>
            <a:ext cx="859536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84708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99"/>
                </a:solidFill>
                <a:latin typeface="メイリオ"/>
              </a:rPr>
              <a:t>更新頻度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1847088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メイリオ"/>
              </a:rPr>
              <a:t>1日4回（00/06/12/18UTC）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414016"/>
            <a:ext cx="8595360" cy="612648"/>
          </a:xfrm>
          <a:prstGeom prst="rect">
            <a:avLst/>
          </a:prstGeom>
          <a:solidFill>
            <a:srgbClr val="BB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50545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99"/>
                </a:solidFill>
                <a:latin typeface="メイリオ"/>
              </a:rPr>
              <a:t>利用可能期間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2505456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メイリオ"/>
              </a:rPr>
              <a:t>最新約5日分のみ無償。過去データは Copernicus CDS API が必要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72384"/>
            <a:ext cx="859536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316382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99"/>
                </a:solidFill>
                <a:latin typeface="メイリオ"/>
              </a:rPr>
              <a:t>ファイル形式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3163824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メイリオ"/>
              </a:rPr>
              <a:t>GRIB2（.grib2 拡張子）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730752"/>
            <a:ext cx="8595360" cy="612648"/>
          </a:xfrm>
          <a:prstGeom prst="rect">
            <a:avLst/>
          </a:prstGeom>
          <a:solidFill>
            <a:srgbClr val="BB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382219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99"/>
                </a:solidFill>
                <a:latin typeface="メイリオ"/>
              </a:rPr>
              <a:t>水平解像度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3822192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メイリオ"/>
              </a:rPr>
              <a:t>約9km（0.25°）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389120"/>
            <a:ext cx="859536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44805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99"/>
                </a:solidFill>
                <a:latin typeface="メイリオ"/>
              </a:rPr>
              <a:t>予報時間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4480560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メイリオ"/>
              </a:rPr>
              <a:t>0〜240h（〜144h: 3h間隔、144h〜: 6h間隔）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047488"/>
            <a:ext cx="8595360" cy="612648"/>
          </a:xfrm>
          <a:prstGeom prst="rect">
            <a:avLst/>
          </a:prstGeom>
          <a:solidFill>
            <a:srgbClr val="BB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513892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99"/>
                </a:solidFill>
                <a:latin typeface="メイリオ"/>
              </a:rPr>
              <a:t>収録変数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138928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メイリオ"/>
              </a:rPr>
              <a:t>高層変数に加え tcwv（可降水量）・tp（積算降水量）・skt 等も収録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705856"/>
            <a:ext cx="859536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579729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99"/>
                </a:solidFill>
                <a:latin typeface="メイリオ"/>
              </a:rPr>
              <a:t>ライセンス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797296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メイリオ"/>
              </a:rPr>
              <a:t>CC BY 4.0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04040"/>
                </a:solidFill>
                <a:latin typeface="メイリオ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3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</a:rPr>
              <a:t>GSM vs ECMWF — 比較と使い分け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BB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2194560" cy="502920"/>
          </a:xfrm>
          <a:prstGeom prst="rect">
            <a:avLst/>
          </a:prstGeom>
          <a:solidFill>
            <a:srgbClr val="33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7043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メイリオ"/>
              </a:rPr>
              <a:t>項目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097280"/>
            <a:ext cx="2651760" cy="502920"/>
          </a:xfrm>
          <a:prstGeom prst="rect">
            <a:avLst/>
          </a:prstGeom>
          <a:solidFill>
            <a:srgbClr val="33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06040" y="117043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メイリオ"/>
              </a:rPr>
              <a:t>GSM（気象庁）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1097280"/>
            <a:ext cx="1920240" cy="502920"/>
          </a:xfrm>
          <a:prstGeom prst="rect">
            <a:avLst/>
          </a:prstGeom>
          <a:solidFill>
            <a:srgbClr val="33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49240" y="1170432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メイリオ"/>
              </a:rPr>
              <a:t>ECMWF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1097280"/>
            <a:ext cx="1645920" cy="502920"/>
          </a:xfrm>
          <a:prstGeom prst="rect">
            <a:avLst/>
          </a:prstGeom>
          <a:solidFill>
            <a:srgbClr val="33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0920" y="1170432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メイリオ"/>
              </a:rPr>
              <a:t>優位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600200"/>
            <a:ext cx="2194560" cy="475488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60320" y="1600200"/>
            <a:ext cx="2651760" cy="475488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03520" y="1600200"/>
            <a:ext cx="1920240" cy="475488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0" y="1600200"/>
            <a:ext cx="1645920" cy="475488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167335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99"/>
                </a:solidFill>
                <a:latin typeface="メイリオ"/>
              </a:rPr>
              <a:t>水平解像度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167335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メイリオ"/>
              </a:rPr>
              <a:t>約13km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1673352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メイリオ"/>
              </a:rPr>
              <a:t>約9km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1673352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9999"/>
                </a:solidFill>
                <a:latin typeface="メイリオ"/>
              </a:rPr>
              <a:t>ECM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103120"/>
            <a:ext cx="2194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60320" y="2103120"/>
            <a:ext cx="26517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03520" y="2103120"/>
            <a:ext cx="19202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0" y="2103120"/>
            <a:ext cx="16459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217627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99"/>
                </a:solidFill>
                <a:latin typeface="メイリオ"/>
              </a:rPr>
              <a:t>予報時間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6040" y="217627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メイリオ"/>
              </a:rPr>
              <a:t>〜264h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2176272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メイリオ"/>
              </a:rPr>
              <a:t>〜240h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2176272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9999"/>
                </a:solidFill>
                <a:latin typeface="メイリオ"/>
              </a:rPr>
              <a:t>GSM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606040"/>
            <a:ext cx="2194560" cy="475488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560320" y="2606040"/>
            <a:ext cx="2651760" cy="475488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03520" y="2606040"/>
            <a:ext cx="1920240" cy="475488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0" y="2606040"/>
            <a:ext cx="1645920" cy="475488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267919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99"/>
                </a:solidFill>
                <a:latin typeface="メイリオ"/>
              </a:rPr>
              <a:t>更新頻度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06040" y="267919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メイリオ"/>
              </a:rPr>
              <a:t>2回/日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9240" y="2679192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メイリオ"/>
              </a:rPr>
              <a:t>4回/日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60920" y="2679192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9999"/>
                </a:solidFill>
                <a:latin typeface="メイリオ"/>
              </a:rPr>
              <a:t>ECM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108960"/>
            <a:ext cx="2194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560320" y="3108960"/>
            <a:ext cx="26517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303520" y="3108960"/>
            <a:ext cx="19202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315200" y="3108960"/>
            <a:ext cx="16459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318211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99"/>
                </a:solidFill>
                <a:latin typeface="メイリオ"/>
              </a:rPr>
              <a:t>無償取得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06040" y="318211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メイリオ"/>
              </a:rPr>
              <a:t>過去データも全て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49240" y="3182112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メイリオ"/>
              </a:rPr>
              <a:t>最新5日分のみ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60920" y="3182112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9999"/>
                </a:solidFill>
                <a:latin typeface="メイリオ"/>
              </a:rPr>
              <a:t>GSM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3611880"/>
            <a:ext cx="2194560" cy="475488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560320" y="3611880"/>
            <a:ext cx="2651760" cy="475488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303520" y="3611880"/>
            <a:ext cx="1920240" cy="475488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315200" y="3611880"/>
            <a:ext cx="1645920" cy="475488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0040" y="368503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99"/>
                </a:solidFill>
                <a:latin typeface="メイリオ"/>
              </a:rPr>
              <a:t>地表面変数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06040" y="368503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メイリオ"/>
              </a:rPr>
              <a:t>限定的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49240" y="3685032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メイリオ"/>
              </a:rPr>
              <a:t>豊富(tcwv/tp等)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60920" y="3685032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9999"/>
                </a:solidFill>
                <a:latin typeface="メイリオ"/>
              </a:rPr>
              <a:t>ECM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4114800"/>
            <a:ext cx="2194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560320" y="4114800"/>
            <a:ext cx="26517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303520" y="4114800"/>
            <a:ext cx="19202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315200" y="4114800"/>
            <a:ext cx="16459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0040" y="418795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99"/>
                </a:solidFill>
                <a:latin typeface="メイリオ"/>
              </a:rPr>
              <a:t>ライセンス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606040" y="418795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メイリオ"/>
              </a:rPr>
              <a:t>気象庁利用規約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49240" y="4187952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メイリオ"/>
              </a:rPr>
              <a:t>CC BY 4.0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60920" y="4187952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9999"/>
                </a:solidFill>
                <a:latin typeface="メイリオ"/>
              </a:rPr>
              <a:t>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74320" y="470916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D2D8A"/>
                </a:solidFill>
                <a:latin typeface="メイリオ"/>
              </a:rPr>
              <a:t>● 過去事例解析 → GSM（RISHアーカイブで長期データ）　● 最新高精度予報 → ECMWF　● 可降水量・積算降水量 → ECMWF のみ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8680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04040"/>
                </a:solidFill>
                <a:latin typeface="メイリオ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3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</a:rPr>
              <a:t>GSM系スクリプト一覧（11本）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BB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448056"/>
          </a:xfrm>
          <a:prstGeom prst="rect">
            <a:avLst/>
          </a:prstGeom>
          <a:solidFill>
            <a:srgbClr val="BB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6128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333399"/>
                </a:solidFill>
                <a:latin typeface="メイリオ"/>
              </a:rPr>
              <a:t>GSM_tenkizu500hPa.py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1161288"/>
            <a:ext cx="5623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メイリオ"/>
              </a:rPr>
              <a:t>500hPa 等高度線・渦度シェード・H/L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81912"/>
            <a:ext cx="8595360" cy="448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64592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333399"/>
                </a:solidFill>
                <a:latin typeface="メイリオ"/>
              </a:rPr>
              <a:t>GSM_QVector850hPa.py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1645920"/>
            <a:ext cx="5623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メイリオ"/>
              </a:rPr>
              <a:t>850hPa Qベクター発散・等温度線・等高度線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066544"/>
            <a:ext cx="8595360" cy="448056"/>
          </a:xfrm>
          <a:prstGeom prst="rect">
            <a:avLst/>
          </a:prstGeom>
          <a:solidFill>
            <a:srgbClr val="BB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13055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333399"/>
                </a:solidFill>
                <a:latin typeface="メイリオ"/>
              </a:rPr>
              <a:t>GSM_Jet300hPa.py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130552"/>
            <a:ext cx="5623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メイリオ"/>
              </a:rPr>
              <a:t>300hPa 等風速線・非地衡風・収束発散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51176"/>
            <a:ext cx="8595360" cy="448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261518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333399"/>
                </a:solidFill>
                <a:latin typeface="メイリオ"/>
              </a:rPr>
              <a:t>GSM_Instability.py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2615184"/>
            <a:ext cx="5623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メイリオ"/>
              </a:rPr>
              <a:t>大気不安定域分布（SEPT−maxEPT差）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035808"/>
            <a:ext cx="8595360" cy="448056"/>
          </a:xfrm>
          <a:prstGeom prst="rect">
            <a:avLst/>
          </a:prstGeom>
          <a:solidFill>
            <a:srgbClr val="BB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309981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333399"/>
                </a:solidFill>
                <a:latin typeface="メイリオ"/>
              </a:rPr>
              <a:t>GSM_CrossSection.py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3099816"/>
            <a:ext cx="5623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メイリオ"/>
              </a:rPr>
              <a:t>ポテンシャル温位・EPT・風の鉛直断面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520440"/>
            <a:ext cx="8595360" cy="448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358444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333399"/>
                </a:solidFill>
                <a:latin typeface="メイリオ"/>
              </a:rPr>
              <a:t>GSM_fax57.py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3584448"/>
            <a:ext cx="5623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メイリオ"/>
              </a:rPr>
              <a:t>FAX57相当（500hPa気温・700hPa湿数）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005072"/>
            <a:ext cx="8595360" cy="448056"/>
          </a:xfrm>
          <a:prstGeom prst="rect">
            <a:avLst/>
          </a:prstGeom>
          <a:solidFill>
            <a:srgbClr val="BB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406908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333399"/>
                </a:solidFill>
                <a:latin typeface="メイリオ"/>
              </a:rPr>
              <a:t>GSM_fax78.py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4069080"/>
            <a:ext cx="5623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メイリオ"/>
              </a:rPr>
              <a:t>FAX78相当（850hPa気温・風・700hPa発散）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489704"/>
            <a:ext cx="8595360" cy="448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455371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333399"/>
                </a:solidFill>
                <a:latin typeface="メイリオ"/>
              </a:rPr>
              <a:t>GSM_faxSrfPre.py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4680" y="4553712"/>
            <a:ext cx="5623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メイリオ"/>
              </a:rPr>
              <a:t>地上気圧（等圧線）・10m風矢羽・2m等温度線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974336"/>
            <a:ext cx="8595360" cy="448056"/>
          </a:xfrm>
          <a:prstGeom prst="rect">
            <a:avLst/>
          </a:prstGeom>
          <a:solidFill>
            <a:srgbClr val="BB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503834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333399"/>
                </a:solidFill>
                <a:latin typeface="メイリオ"/>
              </a:rPr>
              <a:t>GSM_EPT850hPa.py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54680" y="5038344"/>
            <a:ext cx="5623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メイリオ"/>
              </a:rPr>
              <a:t>850hPa 相当温位シェード・等値線・風矢羽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458968"/>
            <a:ext cx="8595360" cy="448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552297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333399"/>
                </a:solidFill>
                <a:latin typeface="メイリオ"/>
              </a:rPr>
              <a:t>GSM_100hPa.py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54680" y="5522976"/>
            <a:ext cx="5623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メイリオ"/>
              </a:rPr>
              <a:t>任意気圧面 等高度線・ISOTAC・風矢羽（100hPa等）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943600"/>
            <a:ext cx="8595360" cy="448056"/>
          </a:xfrm>
          <a:prstGeom prst="rect">
            <a:avLst/>
          </a:prstGeom>
          <a:solidFill>
            <a:srgbClr val="BB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600760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333399"/>
                </a:solidFill>
                <a:latin typeface="メイリオ"/>
              </a:rPr>
              <a:t>GSM_tenkizu500hPa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54680" y="6007608"/>
            <a:ext cx="5623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メイリオ"/>
              </a:rPr>
              <a:t>旧メイン版後継（kurora_tenkizu.py 互換）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04040"/>
                </a:solidFill>
                <a:latin typeface="メイリオ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3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</a:rPr>
              <a:t>ECMWF系スクリプト一覧（6本）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BB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585216"/>
          </a:xfrm>
          <a:prstGeom prst="rect">
            <a:avLst/>
          </a:prstGeom>
          <a:solidFill>
            <a:srgbClr val="BB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1">
                <a:solidFill>
                  <a:srgbClr val="333399"/>
                </a:solidFill>
                <a:latin typeface="メイリオ"/>
              </a:rPr>
              <a:t>ECM_tenkizu500hPa.py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1188720"/>
            <a:ext cx="5623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メイリオ"/>
              </a:rPr>
              <a:t>500hPa 等高度線・渦度シェード・H/L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737360"/>
            <a:ext cx="859536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1">
                <a:solidFill>
                  <a:srgbClr val="333399"/>
                </a:solidFill>
                <a:latin typeface="メイリオ"/>
              </a:rPr>
              <a:t>ECM_EPT850hPa.py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1828800"/>
            <a:ext cx="5623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メイリオ"/>
              </a:rPr>
              <a:t>850hPa 相当温位シェード・等値線・風矢羽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377440"/>
            <a:ext cx="8595360" cy="585216"/>
          </a:xfrm>
          <a:prstGeom prst="rect">
            <a:avLst/>
          </a:prstGeom>
          <a:solidFill>
            <a:srgbClr val="BB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1">
                <a:solidFill>
                  <a:srgbClr val="333399"/>
                </a:solidFill>
                <a:latin typeface="メイリオ"/>
              </a:rPr>
              <a:t>ECM_Fax57.py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468880"/>
            <a:ext cx="5623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メイリオ"/>
              </a:rPr>
              <a:t>FAX57相当（500hPa気温・700hPa湿数）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17520"/>
            <a:ext cx="859536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3108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1">
                <a:solidFill>
                  <a:srgbClr val="333399"/>
                </a:solidFill>
                <a:latin typeface="メイリオ"/>
              </a:rPr>
              <a:t>ECM_Fax78.py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3108960"/>
            <a:ext cx="5623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メイリオ"/>
              </a:rPr>
              <a:t>FAX78相当（850hPa気温・風・700hPa発散）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657600"/>
            <a:ext cx="8595360" cy="585216"/>
          </a:xfrm>
          <a:prstGeom prst="rect">
            <a:avLst/>
          </a:prstGeom>
          <a:solidFill>
            <a:srgbClr val="BB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3749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1">
                <a:solidFill>
                  <a:srgbClr val="333399"/>
                </a:solidFill>
                <a:latin typeface="メイリオ"/>
              </a:rPr>
              <a:t>ECM_SurfacePressure.py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3749040"/>
            <a:ext cx="5623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メイリオ"/>
              </a:rPr>
              <a:t>地上気圧・10m風矢羽・2m等温度線（±tcwv/tp オプション）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297680"/>
            <a:ext cx="859536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1">
                <a:solidFill>
                  <a:srgbClr val="333399"/>
                </a:solidFill>
                <a:latin typeface="メイリオ"/>
              </a:rPr>
              <a:t>ECM_100hPa.py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4389120"/>
            <a:ext cx="5623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メイリオ"/>
              </a:rPr>
              <a:t>任意気圧面 等高度線・ISOTAC・風矢羽（100hPa等）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074920"/>
            <a:ext cx="8595360" cy="594360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512064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8A"/>
                </a:solidFill>
                <a:latin typeface="メイリオ"/>
              </a:rPr>
              <a:t>⚠ ECMWF Open Data は最新約5日分のみ無償。過去データは Copernicus CDS API が必要。
   START_FT は時間数（0, 6, 24 …）で指定（GSMのDDHH形式ではない）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04040"/>
                </a:solidFill>
                <a:latin typeface="メイリオ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3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</a:rPr>
              <a:t>引数仕様と一括実行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BB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99"/>
                </a:solidFill>
                <a:latin typeface="メイリオ"/>
              </a:rPr>
              <a:t>■ 共通引数仕様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8595360" cy="420624"/>
          </a:xfrm>
          <a:prstGeom prst="rect">
            <a:avLst/>
          </a:prstGeom>
          <a:solidFill>
            <a:srgbClr val="BB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361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1">
                <a:solidFill>
                  <a:srgbClr val="333399"/>
                </a:solidFill>
                <a:latin typeface="メイリオ"/>
              </a:rPr>
              <a:t>INIT_TIME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53619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9999"/>
                </a:solidFill>
                <a:latin typeface="メイリオ"/>
              </a:rPr>
              <a:t>必須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536192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メイリオ"/>
              </a:rPr>
              <a:t>初期時刻 YYYYMMDDHH（UTC）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920240"/>
            <a:ext cx="859536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9933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1">
                <a:solidFill>
                  <a:srgbClr val="333399"/>
                </a:solidFill>
                <a:latin typeface="メイリオ"/>
              </a:rPr>
              <a:t>START_FT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199339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9999"/>
                </a:solidFill>
                <a:latin typeface="メイリオ"/>
              </a:rPr>
              <a:t>省略可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1993392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メイリオ"/>
              </a:rPr>
              <a:t>開始予報時間。GSM: DDHH形式  /  ECM: 時間数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377440"/>
            <a:ext cx="8595360" cy="420624"/>
          </a:xfrm>
          <a:prstGeom prst="rect">
            <a:avLst/>
          </a:prstGeom>
          <a:solidFill>
            <a:srgbClr val="BB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4505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1">
                <a:solidFill>
                  <a:srgbClr val="333399"/>
                </a:solidFill>
                <a:latin typeface="メイリオ"/>
              </a:rPr>
              <a:t>N_STEPS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245059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9999"/>
                </a:solidFill>
                <a:latin typeface="メイリオ"/>
              </a:rPr>
              <a:t>省略可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2450592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メイリオ"/>
              </a:rPr>
              <a:t>作成枚数（6h間隔）。省略時は1枚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292608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99"/>
                </a:solidFill>
                <a:latin typeface="メイリオ"/>
              </a:rPr>
              <a:t>■ 一括実行: run_all_charts.sh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291840"/>
            <a:ext cx="8595360" cy="1554480"/>
          </a:xfrm>
          <a:prstGeom prst="rect">
            <a:avLst/>
          </a:prstGeom>
          <a:solidFill>
            <a:srgbClr val="F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383280"/>
            <a:ext cx="8321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D2D8A"/>
                </a:solidFill>
                <a:latin typeface="メイリオ"/>
              </a:rPr>
              <a:t>bash run_all_charts.sh 2026041200                # FT=0h 各1枚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3730752"/>
            <a:ext cx="8321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D2D8A"/>
                </a:solidFill>
                <a:latin typeface="メイリオ"/>
              </a:rPr>
              <a:t>bash run_all_charts.sh 2026041200 0000 5         # FT=0〜24h 各5枚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078224"/>
            <a:ext cx="8321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D2D8A"/>
                </a:solidFill>
                <a:latin typeface="メイリオ"/>
              </a:rPr>
              <a:t>bash run_all_charts.sh 2026041200 0000 key       # FT=0/12/24/36/48h（keyモード）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4425696"/>
            <a:ext cx="8321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D2D8A"/>
                </a:solidFill>
                <a:latin typeface="メイリオ"/>
              </a:rPr>
              <a:t>bash run_all_charts.sh 2026041200 --ecm          # ECM系も追加実行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489204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04040"/>
                </a:solidFill>
                <a:latin typeface="メイリオ"/>
              </a:rPr>
              <a:t>keyモード: FT=0/12/24/36/48h の5枚を自動生成（ECM系引数変換も内部で自動処理）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04040"/>
                </a:solidFill>
                <a:latin typeface="メイリオ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3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</a:rPr>
              <a:t>自動データ取得 ＆ 一括生成スクリプト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BB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347472"/>
          </a:xfrm>
          <a:prstGeom prst="rect">
            <a:avLst/>
          </a:prstGeom>
          <a:solidFill>
            <a:srgbClr val="33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52144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</a:rPr>
              <a:t>run_gsm_auto.py — GSM系 最新データ自動検索・一括実行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81328"/>
            <a:ext cx="8595360" cy="1078992"/>
          </a:xfrm>
          <a:prstGeom prst="rect">
            <a:avLst/>
          </a:prstGeom>
          <a:solidFill>
            <a:srgbClr val="F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527048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D2D8A"/>
                </a:solidFill>
                <a:latin typeface="メイリオ"/>
              </a:rPr>
              <a:t>python run_gsm_auto.py                              # 最新データ・keyモード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856232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D2D8A"/>
                </a:solidFill>
                <a:latin typeface="メイリオ"/>
              </a:rPr>
              <a:t>python run_gsm_auto.py --steps 5                   # 最新データ・5枚連続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85416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D2D8A"/>
                </a:solidFill>
                <a:latin typeface="メイリオ"/>
              </a:rPr>
              <a:t>python run_gsm_auto.py --init-time 2026041200      # 初期時刻を手動指定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60604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333399"/>
                </a:solidFill>
                <a:latin typeface="メイリオ"/>
              </a:rPr>
              <a:t>  --init-time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260604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メイリオ"/>
              </a:rPr>
              <a:t>初期時刻 YYYYMMDDHH（省略時はRISHサーバーから自動検索）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935224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333399"/>
                </a:solidFill>
                <a:latin typeface="メイリオ"/>
              </a:rPr>
              <a:t>  --steps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2935224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メイリオ"/>
              </a:rPr>
              <a:t>連続枚数（6h間隔。省略時はkeyモード）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26440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333399"/>
                </a:solidFill>
                <a:latin typeface="メイリオ"/>
              </a:rPr>
              <a:t>  --start-ft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3264408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メイリオ"/>
              </a:rPr>
              <a:t>開始予報時間（DDHH形式、--steps使用時）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776472"/>
            <a:ext cx="8595360" cy="347472"/>
          </a:xfrm>
          <a:prstGeom prst="rect">
            <a:avLst/>
          </a:prstGeom>
          <a:solidFill>
            <a:srgbClr val="2D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831336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</a:rPr>
              <a:t>run_ecm_auto.py — ECMWF系 最新データ自動検索・一括実行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160520"/>
            <a:ext cx="8595360" cy="1078992"/>
          </a:xfrm>
          <a:prstGeom prst="rect">
            <a:avLst/>
          </a:prstGeom>
          <a:solidFill>
            <a:srgbClr val="F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4206240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D2D8A"/>
                </a:solidFill>
                <a:latin typeface="メイリオ"/>
              </a:rPr>
              <a:t>python run_ecm_auto.py                             # 最新データ・keyモード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35424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D2D8A"/>
                </a:solidFill>
                <a:latin typeface="メイリオ"/>
              </a:rPr>
              <a:t>python run_ecm_auto.py --tcwv                      # 地上気圧図に可降水量追加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864608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D2D8A"/>
                </a:solidFill>
                <a:latin typeface="メイリオ"/>
              </a:rPr>
              <a:t>python run_ecm_auto.py --tp                        # 地上気圧図に積算降水量追加（FT&gt;0必須）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528523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333399"/>
                </a:solidFill>
                <a:latin typeface="メイリオ"/>
              </a:rPr>
              <a:t>  --init-time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528523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メイリオ"/>
              </a:rPr>
              <a:t>初期時刻（省略時はECMWFサーバーHEADリクエストで自動検索）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5614416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333399"/>
                </a:solidFill>
                <a:latin typeface="メイリオ"/>
              </a:rPr>
              <a:t>  --tcwv/--tp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23160" y="5614416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メイリオ"/>
              </a:rPr>
              <a:t>ECM_SurfacePressure.py へのオプション転送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04040"/>
                </a:solidFill>
                <a:latin typeface="メイリオ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3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</a:rPr>
              <a:t>レポート生成スクリプト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BB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1463040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333399"/>
                </a:solidFill>
                <a:latin typeface="メイリオ"/>
              </a:rPr>
              <a:t>■ upper_wind_report.py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2D8A"/>
                </a:solidFill>
                <a:latin typeface="メイリオ"/>
              </a:rPr>
              <a:t>上層天気図レポート生成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メイリオ"/>
              </a:rPr>
              <a:t>指定気圧面（デフォルト100hPa）の等高度線・ISOTAC・風矢羽を生成し、reports/{init_str}/ にPNGとMarkdownをまとめて保存。--push でGitHub push。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48840"/>
            <a:ext cx="8412480" cy="347472"/>
          </a:xfrm>
          <a:prstGeom prst="rect">
            <a:avLst/>
          </a:prstGeom>
          <a:solidFill>
            <a:srgbClr val="E8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D2D8A"/>
                </a:solidFill>
                <a:latin typeface="メイリオ"/>
              </a:rPr>
              <a:t>python upper_wind_report.py 2026041200 0000 5 --levels 100 50 --ecm --push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651760"/>
            <a:ext cx="8595360" cy="1463040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69748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333399"/>
                </a:solidFill>
                <a:latin typeface="メイリオ"/>
              </a:rPr>
              <a:t>■ synop_report.py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9718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2D8A"/>
                </a:solidFill>
                <a:latin typeface="メイリオ"/>
              </a:rPr>
              <a:t>総観天気図レポート生成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24612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メイリオ"/>
              </a:rPr>
              <a:t>Jet300hPa・Fax57・Fax78・850hPa EPT・地上気圧を組み合わせたチャートセットを一括生成し、Markdownレポートにまとめる。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703320"/>
            <a:ext cx="8412480" cy="347472"/>
          </a:xfrm>
          <a:prstGeom prst="rect">
            <a:avLst/>
          </a:prstGeom>
          <a:solidFill>
            <a:srgbClr val="E8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D2D8A"/>
                </a:solidFill>
                <a:latin typeface="メイリオ"/>
              </a:rPr>
              <a:t>python synop_report.py 2026041200 0000 5 --ecm --push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206240"/>
            <a:ext cx="8595360" cy="1463040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25196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333399"/>
                </a:solidFill>
                <a:latin typeface="メイリオ"/>
              </a:rPr>
              <a:t>■ jet_front_report.py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52628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2D8A"/>
                </a:solidFill>
                <a:latin typeface="メイリオ"/>
              </a:rPr>
              <a:t>ジェット・前線解析レポート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80060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メイリオ"/>
              </a:rPr>
              <a:t>上層風・断面図・850hPa EPT・地上気圧の解析レポートを生成。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257800"/>
            <a:ext cx="8412480" cy="347472"/>
          </a:xfrm>
          <a:prstGeom prst="rect">
            <a:avLst/>
          </a:prstGeom>
          <a:solidFill>
            <a:srgbClr val="E8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303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D2D8A"/>
                </a:solidFill>
                <a:latin typeface="メイリオ"/>
              </a:rPr>
              <a:t>python jet_front_report.py 2026041200 0000 5 --push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04040"/>
                </a:solidFill>
                <a:latin typeface="メイリオ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3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</a:rPr>
              <a:t>PowerPoint 自動生成（make_pptx.py / make_pptx2.py）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BB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メイリオ"/>
              </a:rPr>
              <a:t>output/ 内のPNG画像をPowerPointに自動貼り付け。アスペクト比を保ったままセル内に収める（Pillow使用）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8595360" cy="320040"/>
          </a:xfrm>
          <a:prstGeom prst="rect">
            <a:avLst/>
          </a:prstGeom>
          <a:solidFill>
            <a:srgbClr val="33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メイリオ"/>
              </a:rPr>
              <a:t>make_pptx.py — 主要7グループ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20240"/>
            <a:ext cx="6858000" cy="292608"/>
          </a:xfrm>
          <a:prstGeom prst="rect">
            <a:avLst/>
          </a:prstGeom>
          <a:solidFill>
            <a:srgbClr val="BB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965960"/>
            <a:ext cx="5943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メイリオ"/>
              </a:rPr>
              <a:t>GSM: 500hPa渦度/地上気圧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78040" y="1920240"/>
            <a:ext cx="1645920" cy="292608"/>
          </a:xfrm>
          <a:prstGeom prst="rect">
            <a:avLst/>
          </a:prstGeom>
          <a:solidFill>
            <a:srgbClr val="2D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78040" y="1965960"/>
            <a:ext cx="1645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メイリオ"/>
              </a:rPr>
              <a:t>2×2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240280"/>
            <a:ext cx="68580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286000"/>
            <a:ext cx="5943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メイリオ"/>
              </a:rPr>
              <a:t>GSM: Fax57/Fax78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78040" y="2240280"/>
            <a:ext cx="1645920" cy="292608"/>
          </a:xfrm>
          <a:prstGeom prst="rect">
            <a:avLst/>
          </a:prstGeom>
          <a:solidFill>
            <a:srgbClr val="2D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2286000"/>
            <a:ext cx="1645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メイリオ"/>
              </a:rPr>
              <a:t>2×2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560320"/>
            <a:ext cx="6858000" cy="292608"/>
          </a:xfrm>
          <a:prstGeom prst="rect">
            <a:avLst/>
          </a:prstGeom>
          <a:solidFill>
            <a:srgbClr val="BB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606040"/>
            <a:ext cx="5943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メイリオ"/>
              </a:rPr>
              <a:t>GSM: 300hPaジェット/850hPa Qベクター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78040" y="2560320"/>
            <a:ext cx="1645920" cy="292608"/>
          </a:xfrm>
          <a:prstGeom prst="rect">
            <a:avLst/>
          </a:prstGeom>
          <a:solidFill>
            <a:srgbClr val="2D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78040" y="2606040"/>
            <a:ext cx="1645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メイリオ"/>
              </a:rPr>
              <a:t>2×2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880360"/>
            <a:ext cx="68580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926080"/>
            <a:ext cx="5943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メイリオ"/>
              </a:rPr>
              <a:t>GSM: 850hPa相当温位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78040" y="2880360"/>
            <a:ext cx="1645920" cy="292608"/>
          </a:xfrm>
          <a:prstGeom prst="rect">
            <a:avLst/>
          </a:prstGeom>
          <a:solidFill>
            <a:srgbClr val="2D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78040" y="2926080"/>
            <a:ext cx="1645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メイリオ"/>
              </a:rPr>
              <a:t>4-in-1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200400"/>
            <a:ext cx="6858000" cy="292608"/>
          </a:xfrm>
          <a:prstGeom prst="rect">
            <a:avLst/>
          </a:prstGeom>
          <a:solidFill>
            <a:srgbClr val="BB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246120"/>
            <a:ext cx="5943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メイリオ"/>
              </a:rPr>
              <a:t>ECM: 500hPa渦度/地上気圧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78040" y="3200400"/>
            <a:ext cx="1645920" cy="292608"/>
          </a:xfrm>
          <a:prstGeom prst="rect">
            <a:avLst/>
          </a:prstGeom>
          <a:solidFill>
            <a:srgbClr val="2D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78040" y="3246120"/>
            <a:ext cx="1645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メイリオ"/>
              </a:rPr>
              <a:t>2×2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520440"/>
            <a:ext cx="68580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3566160"/>
            <a:ext cx="5943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メイリオ"/>
              </a:rPr>
              <a:t>ECM: Fax57/Fax78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78040" y="3520440"/>
            <a:ext cx="1645920" cy="292608"/>
          </a:xfrm>
          <a:prstGeom prst="rect">
            <a:avLst/>
          </a:prstGeom>
          <a:solidFill>
            <a:srgbClr val="2D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78040" y="3566160"/>
            <a:ext cx="1645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メイリオ"/>
              </a:rPr>
              <a:t>2×2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840480"/>
            <a:ext cx="6858000" cy="292608"/>
          </a:xfrm>
          <a:prstGeom prst="rect">
            <a:avLst/>
          </a:prstGeom>
          <a:solidFill>
            <a:srgbClr val="BB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3886200"/>
            <a:ext cx="5943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メイリオ"/>
              </a:rPr>
              <a:t>ECM: 850hPa相当温位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78040" y="3840480"/>
            <a:ext cx="1645920" cy="292608"/>
          </a:xfrm>
          <a:prstGeom prst="rect">
            <a:avLst/>
          </a:prstGeom>
          <a:solidFill>
            <a:srgbClr val="2D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78040" y="3886200"/>
            <a:ext cx="1645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メイリオ"/>
              </a:rPr>
              <a:t>4-in-1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389120"/>
            <a:ext cx="8595360" cy="32004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43484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メイリオ"/>
              </a:rPr>
              <a:t>make_pptx2.py — 補完3グループ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754880"/>
            <a:ext cx="6858000" cy="292608"/>
          </a:xfrm>
          <a:prstGeom prst="rect">
            <a:avLst/>
          </a:prstGeom>
          <a:solidFill>
            <a:srgbClr val="D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4800600"/>
            <a:ext cx="5943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メイリオ"/>
              </a:rPr>
              <a:t>GSM: 300hPaジェット/Fax57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78040" y="4754880"/>
            <a:ext cx="1645920" cy="292608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78040" y="4800600"/>
            <a:ext cx="1645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メイリオ"/>
              </a:rPr>
              <a:t>2×2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5074920"/>
            <a:ext cx="68580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5120640"/>
            <a:ext cx="5943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メイリオ"/>
              </a:rPr>
              <a:t>GSM: 大気不安定域/850hPa相当温位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78040" y="5074920"/>
            <a:ext cx="1645920" cy="292608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78040" y="5120640"/>
            <a:ext cx="1645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メイリオ"/>
              </a:rPr>
              <a:t>2×2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5394960"/>
            <a:ext cx="6858000" cy="292608"/>
          </a:xfrm>
          <a:prstGeom prst="rect">
            <a:avLst/>
          </a:prstGeom>
          <a:solidFill>
            <a:srgbClr val="D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5440680"/>
            <a:ext cx="5943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メイリオ"/>
              </a:rPr>
              <a:t>GSM: 鉛直断面図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178040" y="5394960"/>
            <a:ext cx="1645920" cy="292608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78040" y="5440680"/>
            <a:ext cx="1645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メイリオ"/>
              </a:rPr>
              <a:t>1×2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04040"/>
                </a:solidFill>
                <a:latin typeface="メイリオ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3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</a:rPr>
              <a:t>セットアップ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BB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99"/>
                </a:solidFill>
                <a:latin typeface="メイリオ"/>
              </a:rPr>
              <a:t>■ conda 環境作成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26464"/>
            <a:ext cx="8595360" cy="1627632"/>
          </a:xfrm>
          <a:prstGeom prst="rect">
            <a:avLst/>
          </a:prstGeom>
          <a:solidFill>
            <a:srgbClr val="F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72184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D2D8A"/>
                </a:solidFill>
                <a:latin typeface="メイリオ"/>
              </a:rPr>
              <a:t>conda create -n met_env_310 python=3.10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56232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D2D8A"/>
                </a:solidFill>
                <a:latin typeface="メイリオ"/>
              </a:rPr>
              <a:t>conda activate met_env_310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40280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D2D8A"/>
                </a:solidFill>
                <a:latin typeface="メイリオ"/>
              </a:rPr>
              <a:t>conda install -c conda-forge pygrib xarray metpy matplotlib cartopy requests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624328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D2D8A"/>
                </a:solidFill>
                <a:latin typeface="メイリオ"/>
              </a:rPr>
              <a:t>pip install beautifulsoup4 python-pptx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91256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99"/>
                </a:solidFill>
                <a:latin typeface="メイリオ"/>
              </a:rPr>
              <a:t>■ 主要ライブラリ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520440"/>
            <a:ext cx="8595360" cy="347472"/>
          </a:xfrm>
          <a:prstGeom prst="rect">
            <a:avLst/>
          </a:prstGeom>
          <a:solidFill>
            <a:srgbClr val="BB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358444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333399"/>
                </a:solidFill>
                <a:latin typeface="メイリオ"/>
              </a:rPr>
              <a:t>pygrib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584448"/>
            <a:ext cx="6766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メイリオ"/>
              </a:rPr>
              <a:t>GRIB2ファイル読み込み・変数抽出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04488"/>
            <a:ext cx="85953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396849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333399"/>
                </a:solidFill>
                <a:latin typeface="メイリオ"/>
              </a:rPr>
              <a:t>xarray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968496"/>
            <a:ext cx="6766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メイリオ"/>
              </a:rPr>
              <a:t>多次元データセット管理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288536"/>
            <a:ext cx="8595360" cy="347472"/>
          </a:xfrm>
          <a:prstGeom prst="rect">
            <a:avLst/>
          </a:prstGeom>
          <a:solidFill>
            <a:srgbClr val="BB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435254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333399"/>
                </a:solidFill>
                <a:latin typeface="メイリオ"/>
              </a:rPr>
              <a:t>metpy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4352544"/>
            <a:ext cx="6766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メイリオ"/>
              </a:rPr>
              <a:t>渦度・発散・相当温位等の気象計算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672584"/>
            <a:ext cx="85953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473659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333399"/>
                </a:solidFill>
                <a:latin typeface="メイリオ"/>
              </a:rPr>
              <a:t>matplotlib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4736592"/>
            <a:ext cx="6766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メイリオ"/>
              </a:rPr>
              <a:t>天気図描画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056632"/>
            <a:ext cx="8595360" cy="347472"/>
          </a:xfrm>
          <a:prstGeom prst="rect">
            <a:avLst/>
          </a:prstGeom>
          <a:solidFill>
            <a:srgbClr val="BB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512064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333399"/>
                </a:solidFill>
                <a:latin typeface="メイリオ"/>
              </a:rPr>
              <a:t>cartopy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5120640"/>
            <a:ext cx="6766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メイリオ"/>
              </a:rPr>
              <a:t>地図投影・海岸線描画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440680"/>
            <a:ext cx="85953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550468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333399"/>
                </a:solidFill>
                <a:latin typeface="メイリオ"/>
              </a:rPr>
              <a:t>requests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80" y="5504688"/>
            <a:ext cx="6766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メイリオ"/>
              </a:rPr>
              <a:t>HTTPダウンロード（RISHサーバー・ECMWF）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824728"/>
            <a:ext cx="8595360" cy="347472"/>
          </a:xfrm>
          <a:prstGeom prst="rect">
            <a:avLst/>
          </a:prstGeom>
          <a:solidFill>
            <a:srgbClr val="BB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588873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333399"/>
                </a:solidFill>
                <a:latin typeface="メイリオ"/>
              </a:rPr>
              <a:t>beautifulsoup4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5888736"/>
            <a:ext cx="6766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メイリオ"/>
              </a:rPr>
              <a:t>HTMLパース（ファイルリスト取得）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6208776"/>
            <a:ext cx="85953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627278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333399"/>
                </a:solidFill>
                <a:latin typeface="メイリオ"/>
              </a:rPr>
              <a:t>python-pptx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0" y="6272784"/>
            <a:ext cx="6766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メイリオ"/>
              </a:rPr>
              <a:t>PowerPointファイル自動生成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04040"/>
                </a:solidFill>
                <a:latin typeface="メイリオ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3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</a:rPr>
              <a:t>出力ファイルとサンプル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BB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99"/>
                </a:solidFill>
                <a:latin typeface="メイリオ"/>
              </a:rPr>
              <a:t>■ 出力ファイル命名規則: output/{YYYYMMDDHH}_FT{FFF}h_{種別}.png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26464"/>
            <a:ext cx="8595360" cy="347472"/>
          </a:xfrm>
          <a:prstGeom prst="rect">
            <a:avLst/>
          </a:prstGeom>
          <a:solidFill>
            <a:srgbClr val="BB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49047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99"/>
                </a:solidFill>
                <a:latin typeface="メイリオ"/>
              </a:rPr>
              <a:t>GSM 500hPa渦度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490472"/>
            <a:ext cx="6766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D2D8A"/>
                </a:solidFill>
                <a:latin typeface="メイリオ"/>
              </a:rPr>
              <a:t>2026041200_FT000h_500hPa_Height_VORT.png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810512"/>
            <a:ext cx="85953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87452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99"/>
                </a:solidFill>
                <a:latin typeface="メイリオ"/>
              </a:rPr>
              <a:t>GSM FAX57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874520"/>
            <a:ext cx="6766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D2D8A"/>
                </a:solidFill>
                <a:latin typeface="メイリオ"/>
              </a:rPr>
              <a:t>2026041200_FT000h_GSM_Fax57.png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194560"/>
            <a:ext cx="8595360" cy="347472"/>
          </a:xfrm>
          <a:prstGeom prst="rect">
            <a:avLst/>
          </a:prstGeom>
          <a:solidFill>
            <a:srgbClr val="BB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25856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99"/>
                </a:solidFill>
                <a:latin typeface="メイリオ"/>
              </a:rPr>
              <a:t>GSM FAX78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258568"/>
            <a:ext cx="6766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D2D8A"/>
                </a:solidFill>
                <a:latin typeface="メイリオ"/>
              </a:rPr>
              <a:t>2026041200_FT000h_GSM_Fax78.png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578608"/>
            <a:ext cx="85953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264261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99"/>
                </a:solidFill>
                <a:latin typeface="メイリオ"/>
              </a:rPr>
              <a:t>GSM 地上気圧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2642616"/>
            <a:ext cx="6766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D2D8A"/>
                </a:solidFill>
                <a:latin typeface="メイリオ"/>
              </a:rPr>
              <a:t>2026041200_FT000h_GSM_SurfacePressure.png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962656"/>
            <a:ext cx="8595360" cy="347472"/>
          </a:xfrm>
          <a:prstGeom prst="rect">
            <a:avLst/>
          </a:prstGeom>
          <a:solidFill>
            <a:srgbClr val="BB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302666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99"/>
                </a:solidFill>
                <a:latin typeface="メイリオ"/>
              </a:rPr>
              <a:t>GSM 850hPa EPT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3026664"/>
            <a:ext cx="6766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D2D8A"/>
                </a:solidFill>
                <a:latin typeface="メイリオ"/>
              </a:rPr>
              <a:t>2026041200_FT000h_GSM_850hPa_EPT.png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346704"/>
            <a:ext cx="85953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341071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99"/>
                </a:solidFill>
                <a:latin typeface="メイリオ"/>
              </a:rPr>
              <a:t>ECM 500hPa渦度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3410712"/>
            <a:ext cx="6766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D2D8A"/>
                </a:solidFill>
                <a:latin typeface="メイリオ"/>
              </a:rPr>
              <a:t>2026041200_FT000h_ECM_500hPa_Height_VORT.png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730752"/>
            <a:ext cx="8595360" cy="347472"/>
          </a:xfrm>
          <a:prstGeom prst="rect">
            <a:avLst/>
          </a:prstGeom>
          <a:solidFill>
            <a:srgbClr val="BB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379476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99"/>
                </a:solidFill>
                <a:latin typeface="メイリオ"/>
              </a:rPr>
              <a:t>ECM 地上気圧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3794760"/>
            <a:ext cx="6766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D2D8A"/>
                </a:solidFill>
                <a:latin typeface="メイリオ"/>
              </a:rPr>
              <a:t>2026041200_FT000h_ECM_SurfacePressure.png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4297680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99"/>
                </a:solidFill>
                <a:latin typeface="メイリオ"/>
              </a:rPr>
              <a:t>■ samples/ ディレクトリ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4626864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メイリオ"/>
              </a:rPr>
              <a:t>全出力種別のサンプルPNG 14枚 + PowerPoint 1ファイルを収録（2026-04-12 12UTC 初期値）
sample_tenkizu_2026041212.pptx: 17スライドのPowerPointサンプルも収録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04040"/>
                </a:solidFill>
                <a:latin typeface="メイリオ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339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BBE0E3"/>
                </a:solidFill>
                <a:latin typeface="メイリオ"/>
              </a:rPr>
              <a:t>まとめ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51560"/>
            <a:ext cx="73152" cy="8686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78992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BE0E3"/>
                </a:solidFill>
                <a:latin typeface="メイリオ"/>
              </a:rPr>
              <a:t>GSM・ECMWF 対応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99032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メイリオ"/>
              </a:rPr>
              <a:t>気象庁GSM（RISH経由・過去データも無償）と
ECMWF（Open Data・最新5日分無償）の両方に対応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011680"/>
            <a:ext cx="73152" cy="8686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039112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BE0E3"/>
                </a:solidFill>
                <a:latin typeface="メイリオ"/>
              </a:rPr>
              <a:t>描画スクリプト 16本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59152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メイリオ"/>
              </a:rPr>
              <a:t>500hPa天気図・FAX57/78・EPT・ジェット・鉛直断面など
高層から地上まで網羅的に対応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971800"/>
            <a:ext cx="73152" cy="8686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999232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BE0E3"/>
                </a:solidFill>
                <a:latin typeface="メイリオ"/>
              </a:rPr>
              <a:t>自動化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19272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メイリオ"/>
              </a:rPr>
              <a:t>run_gsm_auto.py / run_ecm_auto.py で最新データを自動検索し
全スクリプトを一括実行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931920"/>
            <a:ext cx="73152" cy="8686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959352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BE0E3"/>
                </a:solidFill>
                <a:latin typeface="メイリオ"/>
              </a:rPr>
              <a:t>レポート・PowerPoint 自動生成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79392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メイリオ"/>
              </a:rPr>
              <a:t>Markdownレポート（GitHub push対応）と
PowerPointファイルの自動生成機能を装備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892040"/>
            <a:ext cx="73152" cy="8686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919472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BE0E3"/>
                </a:solidFill>
                <a:latin typeface="メイリオ"/>
              </a:rPr>
              <a:t>拡張性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239512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メイリオ"/>
              </a:rPr>
              <a:t>引数仕様を全スクリプトで統一。任意気圧面・複数FT・
ECMオプション(tcwv/tp)など柔軟に対応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04040"/>
                </a:solidFill>
                <a:latin typeface="メイリオ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