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88952" cy="13716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645920"/>
            <a:ext cx="10360152" cy="246888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828800"/>
            <a:ext cx="9875520" cy="1463040"/>
          </a:xfrm>
          <a:prstGeom prst="rect">
            <a:avLst/>
          </a:prstGeom>
          <a:noFill/>
        </p:spPr>
        <p:txBody>
          <a:bodyPr wrap="square">
            <a:spAutoFit/>
          </a:bodyPr>
          <a:lstStyle/>
          <a:p>
            <a:pPr algn="ctr"/>
            <a:r>
              <a:rPr sz="4000" b="1">
                <a:solidFill>
                  <a:srgbClr val="FFFFFF"/>
                </a:solidFill>
                <a:latin typeface="メイリオ"/>
              </a:rPr>
              <a:t>気象データ取得MCPサーバーの構築</a:t>
            </a:r>
          </a:p>
        </p:txBody>
      </p:sp>
      <p:sp>
        <p:nvSpPr>
          <p:cNvPr id="5" name="TextBox 4"/>
          <p:cNvSpPr txBox="1"/>
          <p:nvPr/>
        </p:nvSpPr>
        <p:spPr>
          <a:xfrm>
            <a:off x="1188720" y="3291840"/>
            <a:ext cx="9875520" cy="731520"/>
          </a:xfrm>
          <a:prstGeom prst="rect">
            <a:avLst/>
          </a:prstGeom>
          <a:noFill/>
        </p:spPr>
        <p:txBody>
          <a:bodyPr wrap="square">
            <a:spAutoFit/>
          </a:bodyPr>
          <a:lstStyle/>
          <a:p>
            <a:pPr algn="ctr"/>
            <a:r>
              <a:rPr sz="2400" b="0">
                <a:solidFill>
                  <a:srgbClr val="FFFFFF"/>
                </a:solidFill>
                <a:latin typeface="メイリオ"/>
              </a:rPr>
              <a:t>Claude Code などの生成AIから使用できる標準的なMCPサーバーにより自然言語による指示で気象庁HPから得た情報を回答する</a:t>
            </a:r>
          </a:p>
        </p:txBody>
      </p:sp>
      <p:sp>
        <p:nvSpPr>
          <p:cNvPr id="6" name="TextBox 5"/>
          <p:cNvSpPr txBox="1"/>
          <p:nvPr/>
        </p:nvSpPr>
        <p:spPr>
          <a:xfrm>
            <a:off x="914400" y="5029200"/>
            <a:ext cx="10360152" cy="457200"/>
          </a:xfrm>
          <a:prstGeom prst="rect">
            <a:avLst/>
          </a:prstGeom>
          <a:noFill/>
        </p:spPr>
        <p:txBody>
          <a:bodyPr wrap="square">
            <a:spAutoFit/>
          </a:bodyPr>
          <a:lstStyle/>
          <a:p>
            <a:pPr algn="r"/>
            <a:r>
              <a:rPr sz="1600" b="0">
                <a:solidFill>
                  <a:srgbClr val="262626"/>
                </a:solidFill>
                <a:latin typeface="メイリオ"/>
              </a:rPr>
              <a:t>2026年7月　上原政博</a:t>
            </a:r>
          </a:p>
        </p:txBody>
      </p:sp>
      <p:sp>
        <p:nvSpPr>
          <p:cNvPr id="7" name="Rectangle 6"/>
          <p:cNvSpPr/>
          <p:nvPr/>
        </p:nvSpPr>
        <p:spPr>
          <a:xfrm>
            <a:off x="0" y="6583680"/>
            <a:ext cx="12188952" cy="2743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731520"/>
          </a:xfrm>
          <a:prstGeom prst="rect">
            <a:avLst/>
          </a:prstGeom>
          <a:noFill/>
        </p:spPr>
        <p:txBody>
          <a:bodyPr wrap="square">
            <a:spAutoFit/>
          </a:bodyPr>
          <a:lstStyle/>
          <a:p>
            <a:pPr algn="l"/>
            <a:r>
              <a:rPr sz="3200" b="1">
                <a:solidFill>
                  <a:srgbClr val="FFFFFF"/>
                </a:solidFill>
                <a:latin typeface="メイリオ"/>
              </a:rPr>
              <a:t>目次</a:t>
            </a:r>
          </a:p>
        </p:txBody>
      </p:sp>
      <p:sp>
        <p:nvSpPr>
          <p:cNvPr id="4" name="TextBox 3"/>
          <p:cNvSpPr txBox="1"/>
          <p:nvPr/>
        </p:nvSpPr>
        <p:spPr>
          <a:xfrm>
            <a:off x="914400" y="1371600"/>
            <a:ext cx="10058400" cy="5029200"/>
          </a:xfrm>
          <a:prstGeom prst="rect">
            <a:avLst/>
          </a:prstGeom>
          <a:noFill/>
        </p:spPr>
        <p:txBody>
          <a:bodyPr wrap="square">
            <a:normAutofit/>
          </a:bodyPr>
          <a:lstStyle/>
          <a:p>
            <a:pPr algn="l"/>
            <a:r>
              <a:rPr sz="2200" b="0">
                <a:solidFill>
                  <a:srgbClr val="262626"/>
                </a:solidFill>
                <a:latin typeface="メイリオ"/>
              </a:rPr>
              <a:t>  1.  MCP（Model Context Protocol）とは</a:t>
            </a:r>
          </a:p>
          <a:p>
            <a:pPr algn="l"/>
            <a:r>
              <a:rPr sz="2200" b="0">
                <a:solidFill>
                  <a:srgbClr val="262626"/>
                </a:solidFill>
                <a:latin typeface="メイリオ"/>
              </a:rPr>
              <a:t>  2.  気象庁データ取得の仕組み</a:t>
            </a:r>
          </a:p>
          <a:p>
            <a:pPr algn="l"/>
            <a:r>
              <a:rPr sz="2200" b="0">
                <a:solidFill>
                  <a:srgbClr val="262626"/>
                </a:solidFill>
                <a:latin typeface="メイリオ"/>
              </a:rPr>
              <a:t>  3.  利用可能なツール（予報・警報系）</a:t>
            </a:r>
          </a:p>
          <a:p>
            <a:pPr algn="l"/>
            <a:r>
              <a:rPr sz="2200" b="0">
                <a:solidFill>
                  <a:srgbClr val="262626"/>
                </a:solidFill>
                <a:latin typeface="メイリオ"/>
              </a:rPr>
              <a:t>  4.  利用可能なツール（観測値・長期予報・潮位系）</a:t>
            </a:r>
          </a:p>
          <a:p>
            <a:pPr algn="l"/>
            <a:r>
              <a:rPr sz="2200" b="0">
                <a:solidFill>
                  <a:srgbClr val="262626"/>
                </a:solidFill>
                <a:latin typeface="メイリオ"/>
              </a:rPr>
              <a:t>  5.  セットアップ手順</a:t>
            </a:r>
          </a:p>
          <a:p>
            <a:pPr algn="l"/>
            <a:r>
              <a:rPr sz="2200" b="0">
                <a:solidFill>
                  <a:srgbClr val="262626"/>
                </a:solidFill>
                <a:latin typeface="メイリオ"/>
              </a:rPr>
              <a:t>  6.  使い方</a:t>
            </a:r>
          </a:p>
          <a:p>
            <a:pPr algn="l"/>
            <a:r>
              <a:rPr sz="2200" b="0">
                <a:solidFill>
                  <a:srgbClr val="262626"/>
                </a:solidFill>
                <a:latin typeface="メイリオ"/>
              </a:rPr>
              <a:t>  7.  社内活用：RAGチャットボット vs MCPサーバー</a:t>
            </a:r>
          </a:p>
          <a:p>
            <a:pPr algn="l"/>
            <a:r>
              <a:rPr sz="2200" b="0">
                <a:solidFill>
                  <a:srgbClr val="262626"/>
                </a:solidFill>
                <a:latin typeface="メイリオ"/>
              </a:rPr>
              <a:t>  8.  まとめ・今後の展開</a:t>
            </a:r>
          </a:p>
        </p:txBody>
      </p:sp>
      <p:sp>
        <p:nvSpPr>
          <p:cNvPr id="5" name="Rectangle 4"/>
          <p:cNvSpPr/>
          <p:nvPr/>
        </p:nvSpPr>
        <p:spPr>
          <a:xfrm>
            <a:off x="0" y="6583680"/>
            <a:ext cx="12188952" cy="2743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731520"/>
          </a:xfrm>
          <a:prstGeom prst="rect">
            <a:avLst/>
          </a:prstGeom>
          <a:noFill/>
        </p:spPr>
        <p:txBody>
          <a:bodyPr wrap="square">
            <a:spAutoFit/>
          </a:bodyPr>
          <a:lstStyle/>
          <a:p>
            <a:pPr algn="l"/>
            <a:r>
              <a:rPr sz="3200" b="1">
                <a:solidFill>
                  <a:srgbClr val="FFFFFF"/>
                </a:solidFill>
                <a:latin typeface="メイリオ"/>
              </a:rPr>
              <a:t>MCP（Model Context Protocol）とは</a:t>
            </a:r>
          </a:p>
        </p:txBody>
      </p:sp>
      <p:sp>
        <p:nvSpPr>
          <p:cNvPr id="4" name="TextBox 3"/>
          <p:cNvSpPr txBox="1"/>
          <p:nvPr/>
        </p:nvSpPr>
        <p:spPr>
          <a:xfrm>
            <a:off x="731520" y="1371600"/>
            <a:ext cx="10698480" cy="4206240"/>
          </a:xfrm>
          <a:prstGeom prst="rect">
            <a:avLst/>
          </a:prstGeom>
          <a:noFill/>
        </p:spPr>
        <p:txBody>
          <a:bodyPr wrap="square">
            <a:normAutofit/>
          </a:bodyPr>
          <a:lstStyle/>
          <a:p>
            <a:pPr algn="l"/>
            <a:r>
              <a:rPr sz="2200" b="0">
                <a:solidFill>
                  <a:srgbClr val="262626"/>
                </a:solidFill>
                <a:latin typeface="メイリオ"/>
              </a:rPr>
              <a:t>・Anthropicが策定したオープン標準プロトコル。AIモデル（Claude）と外部ツール・データソースを接続する仕組み</a:t>
            </a:r>
          </a:p>
          <a:p>
            <a:pPr algn="l"/>
            <a:r>
              <a:rPr sz="2200" b="0">
                <a:solidFill>
                  <a:srgbClr val="262626"/>
                </a:solidFill>
                <a:latin typeface="メイリオ"/>
              </a:rPr>
              <a:t>・ClaudeがJSON-RPC（stdio/HTTP）でMCPサーバーに問い合わせ、必要なツールを呼び出して結果を受け取る</a:t>
            </a:r>
          </a:p>
          <a:p>
            <a:pPr algn="l"/>
            <a:r>
              <a:rPr sz="2200" b="0">
                <a:solidFill>
                  <a:srgbClr val="262626"/>
                </a:solidFill>
                <a:latin typeface="メイリオ"/>
              </a:rPr>
              <a:t>・リアルタイムデータ・専門データベース・ローカルファイルなど、学習データにない情報へのアクセスを可能にする</a:t>
            </a:r>
          </a:p>
          <a:p>
            <a:pPr algn="l"/>
            <a:r>
              <a:rPr sz="2200" b="0">
                <a:solidFill>
                  <a:srgbClr val="262626"/>
                </a:solidFill>
                <a:latin typeface="メイリオ"/>
              </a:rPr>
              <a:t>・本プロジェクトはstdio（標準入出力）ベースの通信方式を採用し、Claude Codeがサブプロセスとして起動・管理する</a:t>
            </a:r>
          </a:p>
        </p:txBody>
      </p:sp>
      <p:sp>
        <p:nvSpPr>
          <p:cNvPr id="5" name="Rectangle 4"/>
          <p:cNvSpPr/>
          <p:nvPr/>
        </p:nvSpPr>
        <p:spPr>
          <a:xfrm>
            <a:off x="731520" y="5486400"/>
            <a:ext cx="10698480" cy="822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5486400"/>
            <a:ext cx="54864" cy="82296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5559552"/>
            <a:ext cx="10332720" cy="676656"/>
          </a:xfrm>
          <a:prstGeom prst="rect">
            <a:avLst/>
          </a:prstGeom>
          <a:noFill/>
        </p:spPr>
        <p:txBody>
          <a:bodyPr wrap="square">
            <a:normAutofit/>
          </a:bodyPr>
          <a:lstStyle/>
          <a:p>
            <a:pPr algn="l"/>
            <a:r>
              <a:rPr sz="1600" b="0">
                <a:solidFill>
                  <a:srgbClr val="1F497D"/>
                </a:solidFill>
                <a:latin typeface="メイリオ"/>
              </a:rPr>
              <a:t>Claudeは「どんなツールがあるか」を問い合わせ、必要に応じてツールを呼び出して結果を受け取る</a:t>
            </a:r>
          </a:p>
        </p:txBody>
      </p:sp>
      <p:sp>
        <p:nvSpPr>
          <p:cNvPr id="8" name="Rectangle 7"/>
          <p:cNvSpPr/>
          <p:nvPr/>
        </p:nvSpPr>
        <p:spPr>
          <a:xfrm>
            <a:off x="0" y="6583680"/>
            <a:ext cx="12188952" cy="2743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731520"/>
          </a:xfrm>
          <a:prstGeom prst="rect">
            <a:avLst/>
          </a:prstGeom>
          <a:noFill/>
        </p:spPr>
        <p:txBody>
          <a:bodyPr wrap="square">
            <a:spAutoFit/>
          </a:bodyPr>
          <a:lstStyle/>
          <a:p>
            <a:pPr algn="l"/>
            <a:r>
              <a:rPr sz="3200" b="1">
                <a:solidFill>
                  <a:srgbClr val="FFFFFF"/>
                </a:solidFill>
                <a:latin typeface="メイリオ"/>
              </a:rPr>
              <a:t>気象庁データ取得の仕組み</a:t>
            </a:r>
          </a:p>
        </p:txBody>
      </p:sp>
      <p:sp>
        <p:nvSpPr>
          <p:cNvPr id="4" name="TextBox 3"/>
          <p:cNvSpPr txBox="1"/>
          <p:nvPr/>
        </p:nvSpPr>
        <p:spPr>
          <a:xfrm>
            <a:off x="731520" y="1371600"/>
            <a:ext cx="10698480" cy="4206240"/>
          </a:xfrm>
          <a:prstGeom prst="rect">
            <a:avLst/>
          </a:prstGeom>
          <a:noFill/>
        </p:spPr>
        <p:txBody>
          <a:bodyPr wrap="square">
            <a:normAutofit/>
          </a:bodyPr>
          <a:lstStyle/>
          <a:p>
            <a:pPr algn="l"/>
            <a:r>
              <a:rPr sz="2200" b="0">
                <a:solidFill>
                  <a:srgbClr val="262626"/>
                </a:solidFill>
                <a:latin typeface="メイリオ"/>
              </a:rPr>
              <a:t>・ユーザーの質問（例:「東京の天気を教えて」）をClaudeが解釈し、search_areaでエリアコードを検索</a:t>
            </a:r>
          </a:p>
          <a:p>
            <a:pPr algn="l"/>
            <a:r>
              <a:rPr sz="2200" b="0">
                <a:solidFill>
                  <a:srgbClr val="262626"/>
                </a:solidFill>
                <a:latin typeface="メイリオ"/>
              </a:rPr>
              <a:t>・得られたエリアコード（例: 東京都=130000）を使い、get_forecast等でMCPサーバーがJMA APIにHTTPリクエスト</a:t>
            </a:r>
          </a:p>
          <a:p>
            <a:pPr algn="l"/>
            <a:r>
              <a:rPr sz="2200" b="0">
                <a:solidFill>
                  <a:srgbClr val="262626"/>
                </a:solidFill>
                <a:latin typeface="メイリオ"/>
              </a:rPr>
              <a:t>・気象庁APIは認証不要・無料で利用可能（利用規約の遵守が必要）</a:t>
            </a:r>
          </a:p>
          <a:p>
            <a:pPr algn="l"/>
            <a:r>
              <a:rPr sz="2200" b="0">
                <a:solidFill>
                  <a:srgbClr val="262626"/>
                </a:solidFill>
                <a:latin typeface="メイリオ"/>
              </a:rPr>
              <a:t>・取得したJSONデータを天気コード変換（例: "201"→"曇時々晴"）・日付変換等で整形し、Claudeが読みやすい日本語で回答を生成</a:t>
            </a:r>
          </a:p>
        </p:txBody>
      </p:sp>
      <p:sp>
        <p:nvSpPr>
          <p:cNvPr id="5" name="Rectangle 4"/>
          <p:cNvSpPr/>
          <p:nvPr/>
        </p:nvSpPr>
        <p:spPr>
          <a:xfrm>
            <a:off x="0" y="6583680"/>
            <a:ext cx="12188952" cy="2743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731520"/>
          </a:xfrm>
          <a:prstGeom prst="rect">
            <a:avLst/>
          </a:prstGeom>
          <a:noFill/>
        </p:spPr>
        <p:txBody>
          <a:bodyPr wrap="square">
            <a:spAutoFit/>
          </a:bodyPr>
          <a:lstStyle/>
          <a:p>
            <a:pPr algn="l"/>
            <a:r>
              <a:rPr sz="3200" b="1">
                <a:solidFill>
                  <a:srgbClr val="FFFFFF"/>
                </a:solidFill>
                <a:latin typeface="メイリオ"/>
              </a:rPr>
              <a:t>利用可能なツール（予報・警報系）</a:t>
            </a:r>
          </a:p>
        </p:txBody>
      </p:sp>
      <p:sp>
        <p:nvSpPr>
          <p:cNvPr id="4" name="TextBox 3"/>
          <p:cNvSpPr txBox="1"/>
          <p:nvPr/>
        </p:nvSpPr>
        <p:spPr>
          <a:xfrm>
            <a:off x="731520" y="1371600"/>
            <a:ext cx="10698480" cy="4206240"/>
          </a:xfrm>
          <a:prstGeom prst="rect">
            <a:avLst/>
          </a:prstGeom>
          <a:noFill/>
        </p:spPr>
        <p:txBody>
          <a:bodyPr wrap="square">
            <a:normAutofit/>
          </a:bodyPr>
          <a:lstStyle/>
          <a:p>
            <a:pPr algn="l"/>
            <a:r>
              <a:rPr sz="2200" b="0">
                <a:solidFill>
                  <a:srgbClr val="262626"/>
                </a:solidFill>
                <a:latin typeface="メイリオ"/>
              </a:rPr>
              <a:t>・search_area: 地域名（部分一致）でエリアコードを検索</a:t>
            </a:r>
          </a:p>
          <a:p>
            <a:pPr algn="l"/>
            <a:r>
              <a:rPr sz="2200" b="0">
                <a:solidFill>
                  <a:srgbClr val="262626"/>
                </a:solidFill>
                <a:latin typeface="メイリオ"/>
              </a:rPr>
              <a:t>・get_forecast / get_weekly_forecast: 3日間・週間の天気予報を取得</a:t>
            </a:r>
          </a:p>
          <a:p>
            <a:pPr algn="l"/>
            <a:r>
              <a:rPr sz="2200" b="0">
                <a:solidFill>
                  <a:srgbClr val="262626"/>
                </a:solidFill>
                <a:latin typeface="メイリオ"/>
              </a:rPr>
              <a:t>・get_overview: 天気概況テキストを取得</a:t>
            </a:r>
          </a:p>
          <a:p>
            <a:pPr algn="l"/>
            <a:r>
              <a:rPr sz="2200" b="0">
                <a:solidFill>
                  <a:srgbClr val="262626"/>
                </a:solidFill>
                <a:latin typeface="メイリオ"/>
              </a:rPr>
              <a:t>・get_warning / get_early_warning: 警報・注意報、早期注意情報を取得</a:t>
            </a:r>
          </a:p>
          <a:p>
            <a:pPr algn="l"/>
            <a:r>
              <a:rPr sz="2200" b="0">
                <a:solidFill>
                  <a:srgbClr val="262626"/>
                </a:solidFill>
                <a:latin typeface="メイリオ"/>
              </a:rPr>
              <a:t>・get_forecaster_comment / get_information: 気象台コメント・気象情報の見出し＋本文を取得</a:t>
            </a:r>
          </a:p>
        </p:txBody>
      </p:sp>
      <p:sp>
        <p:nvSpPr>
          <p:cNvPr id="5" name="Rectangle 4"/>
          <p:cNvSpPr/>
          <p:nvPr/>
        </p:nvSpPr>
        <p:spPr>
          <a:xfrm>
            <a:off x="0" y="6583680"/>
            <a:ext cx="12188952" cy="2743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731520"/>
          </a:xfrm>
          <a:prstGeom prst="rect">
            <a:avLst/>
          </a:prstGeom>
          <a:noFill/>
        </p:spPr>
        <p:txBody>
          <a:bodyPr wrap="square">
            <a:spAutoFit/>
          </a:bodyPr>
          <a:lstStyle/>
          <a:p>
            <a:pPr algn="l"/>
            <a:r>
              <a:rPr sz="3200" b="1">
                <a:solidFill>
                  <a:srgbClr val="FFFFFF"/>
                </a:solidFill>
                <a:latin typeface="メイリオ"/>
              </a:rPr>
              <a:t>利用可能なツール（観測値・長期予報・潮位系）</a:t>
            </a:r>
          </a:p>
        </p:txBody>
      </p:sp>
      <p:sp>
        <p:nvSpPr>
          <p:cNvPr id="4" name="TextBox 3"/>
          <p:cNvSpPr txBox="1"/>
          <p:nvPr/>
        </p:nvSpPr>
        <p:spPr>
          <a:xfrm>
            <a:off x="731520" y="1371600"/>
            <a:ext cx="10698480" cy="4206240"/>
          </a:xfrm>
          <a:prstGeom prst="rect">
            <a:avLst/>
          </a:prstGeom>
          <a:noFill/>
        </p:spPr>
        <p:txBody>
          <a:bodyPr wrap="square">
            <a:normAutofit/>
          </a:bodyPr>
          <a:lstStyle/>
          <a:p>
            <a:pPr algn="l"/>
            <a:r>
              <a:rPr sz="2200" b="0">
                <a:solidFill>
                  <a:srgbClr val="262626"/>
                </a:solidFill>
                <a:latin typeface="メイリオ"/>
              </a:rPr>
              <a:t>・get_mdrr_data / get_daily_ranking / get_record_update: 全国観測所の最新値・ランキング・記録更新状況</a:t>
            </a:r>
          </a:p>
          <a:p>
            <a:pPr algn="l"/>
            <a:r>
              <a:rPr sz="2200" b="0">
                <a:solidFill>
                  <a:srgbClr val="262626"/>
                </a:solidFill>
                <a:latin typeface="メイリオ"/>
              </a:rPr>
              <a:t>・get_twoweek_forecast / get_monthly_forecast: 2週間・1ヶ月の気温予報（確率付き）</a:t>
            </a:r>
          </a:p>
          <a:p>
            <a:pPr algn="l"/>
            <a:r>
              <a:rPr sz="2200" b="0">
                <a:solidFill>
                  <a:srgbClr val="262626"/>
                </a:solidFill>
                <a:latin typeface="メイリオ"/>
              </a:rPr>
              <a:t>・get_3month_forecast / get_6month_forecast: 3ヶ月予報・暖候期寒候期予報の解説資料</a:t>
            </a:r>
          </a:p>
          <a:p>
            <a:pPr algn="l"/>
            <a:r>
              <a:rPr sz="2200" b="0">
                <a:solidFill>
                  <a:srgbClr val="262626"/>
                </a:solidFill>
                <a:latin typeface="メイリオ"/>
              </a:rPr>
              <a:t>・get_tide_observation / search_tide_stations: 潮位観測データ・観測点コード検索（全国39地区166局）</a:t>
            </a:r>
          </a:p>
        </p:txBody>
      </p:sp>
      <p:sp>
        <p:nvSpPr>
          <p:cNvPr id="5" name="Rectangle 4"/>
          <p:cNvSpPr/>
          <p:nvPr/>
        </p:nvSpPr>
        <p:spPr>
          <a:xfrm>
            <a:off x="0" y="6583680"/>
            <a:ext cx="12188952" cy="2743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731520"/>
          </a:xfrm>
          <a:prstGeom prst="rect">
            <a:avLst/>
          </a:prstGeom>
          <a:noFill/>
        </p:spPr>
        <p:txBody>
          <a:bodyPr wrap="square">
            <a:spAutoFit/>
          </a:bodyPr>
          <a:lstStyle/>
          <a:p>
            <a:pPr algn="l"/>
            <a:r>
              <a:rPr sz="3200" b="1">
                <a:solidFill>
                  <a:srgbClr val="FFFFFF"/>
                </a:solidFill>
                <a:latin typeface="メイリオ"/>
              </a:rPr>
              <a:t>セットアップ手順</a:t>
            </a:r>
          </a:p>
        </p:txBody>
      </p:sp>
      <p:sp>
        <p:nvSpPr>
          <p:cNvPr id="4" name="TextBox 3"/>
          <p:cNvSpPr txBox="1"/>
          <p:nvPr/>
        </p:nvSpPr>
        <p:spPr>
          <a:xfrm>
            <a:off x="731520" y="1371600"/>
            <a:ext cx="10698480" cy="4206240"/>
          </a:xfrm>
          <a:prstGeom prst="rect">
            <a:avLst/>
          </a:prstGeom>
          <a:noFill/>
        </p:spPr>
        <p:txBody>
          <a:bodyPr wrap="square">
            <a:normAutofit/>
          </a:bodyPr>
          <a:lstStyle/>
          <a:p>
            <a:pPr algn="l"/>
            <a:r>
              <a:rPr sz="2200" b="0">
                <a:solidFill>
                  <a:srgbClr val="262626"/>
                </a:solidFill>
                <a:latin typeface="メイリオ"/>
              </a:rPr>
              <a:t>・リポジトリをクローンし、依存パッケージ（mcp・requests）をインストール</a:t>
            </a:r>
          </a:p>
          <a:p>
            <a:pPr algn="l"/>
            <a:r>
              <a:rPr sz="2200" b="0">
                <a:solidFill>
                  <a:srgbClr val="262626"/>
                </a:solidFill>
                <a:latin typeface="メイリオ"/>
              </a:rPr>
              <a:t>・python3 server.py で単体起動を確認</a:t>
            </a:r>
          </a:p>
          <a:p>
            <a:pPr algn="l"/>
            <a:r>
              <a:rPr sz="2200" b="0">
                <a:solidFill>
                  <a:srgbClr val="262626"/>
                </a:solidFill>
                <a:latin typeface="メイリオ"/>
              </a:rPr>
              <a:t>・claude mcp add コマンドでClaude Codeにサーバーを登録する（.mcp.jsonへの直接記述より確実）</a:t>
            </a:r>
          </a:p>
          <a:p>
            <a:pPr algn="l"/>
            <a:r>
              <a:rPr sz="2200" b="0">
                <a:solidFill>
                  <a:srgbClr val="262626"/>
                </a:solidFill>
                <a:latin typeface="メイリオ"/>
              </a:rPr>
              <a:t>・登録後、Claude Codeを再起動し「/mcp」コマンドでjmaサーバーの表示を確認</a:t>
            </a:r>
          </a:p>
        </p:txBody>
      </p:sp>
      <p:sp>
        <p:nvSpPr>
          <p:cNvPr id="5" name="Rectangle 4"/>
          <p:cNvSpPr/>
          <p:nvPr/>
        </p:nvSpPr>
        <p:spPr>
          <a:xfrm>
            <a:off x="0" y="6583680"/>
            <a:ext cx="12188952" cy="2743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731520"/>
          </a:xfrm>
          <a:prstGeom prst="rect">
            <a:avLst/>
          </a:prstGeom>
          <a:noFill/>
        </p:spPr>
        <p:txBody>
          <a:bodyPr wrap="square">
            <a:spAutoFit/>
          </a:bodyPr>
          <a:lstStyle/>
          <a:p>
            <a:pPr algn="l"/>
            <a:r>
              <a:rPr sz="3200" b="1">
                <a:solidFill>
                  <a:srgbClr val="FFFFFF"/>
                </a:solidFill>
                <a:latin typeface="メイリオ"/>
              </a:rPr>
              <a:t>使い方</a:t>
            </a:r>
          </a:p>
        </p:txBody>
      </p:sp>
      <p:sp>
        <p:nvSpPr>
          <p:cNvPr id="4" name="TextBox 3"/>
          <p:cNvSpPr txBox="1"/>
          <p:nvPr/>
        </p:nvSpPr>
        <p:spPr>
          <a:xfrm>
            <a:off x="731520" y="1371600"/>
            <a:ext cx="10698480" cy="4206240"/>
          </a:xfrm>
          <a:prstGeom prst="rect">
            <a:avLst/>
          </a:prstGeom>
          <a:noFill/>
        </p:spPr>
        <p:txBody>
          <a:bodyPr wrap="square">
            <a:normAutofit/>
          </a:bodyPr>
          <a:lstStyle/>
          <a:p>
            <a:pPr algn="l"/>
            <a:r>
              <a:rPr sz="2200" b="0">
                <a:solidFill>
                  <a:srgbClr val="262626"/>
                </a:solidFill>
                <a:latin typeface="メイリオ"/>
              </a:rPr>
              <a:t>・Claude Codeのチャットで自然言語で質問するだけ</a:t>
            </a:r>
          </a:p>
          <a:p>
            <a:pPr algn="l"/>
            <a:r>
              <a:rPr sz="2200" b="0">
                <a:solidFill>
                  <a:srgbClr val="262626"/>
                </a:solidFill>
                <a:latin typeface="メイリオ"/>
              </a:rPr>
              <a:t>・「東京の今日の天気を教えて」「大阪の週間天気予報は？」「沖縄の天気概況を見せて」</a:t>
            </a:r>
          </a:p>
          <a:p>
            <a:pPr algn="l"/>
            <a:r>
              <a:rPr sz="2200" b="0">
                <a:solidFill>
                  <a:srgbClr val="262626"/>
                </a:solidFill>
                <a:latin typeface="メイリオ"/>
              </a:rPr>
              <a:t>・「今日の全国降水量ランキングを見せて」「北海道の積雪上位10地点は？」</a:t>
            </a:r>
          </a:p>
          <a:p>
            <a:pPr algn="l"/>
            <a:r>
              <a:rPr sz="2200" b="0">
                <a:solidFill>
                  <a:srgbClr val="262626"/>
                </a:solidFill>
                <a:latin typeface="メイリオ"/>
              </a:rPr>
              <a:t>・「那覇の現在の潮位を教えて」「宮崎の潮位偏差（高潮）の状況は？」</a:t>
            </a:r>
          </a:p>
          <a:p>
            <a:pPr algn="l"/>
            <a:r>
              <a:rPr sz="2200" b="0">
                <a:solidFill>
                  <a:srgbClr val="262626"/>
                </a:solidFill>
                <a:latin typeface="メイリオ"/>
              </a:rPr>
              <a:t>・Claudeが自動でツールを選択し、気象庁から最新データを取得して回答する</a:t>
            </a:r>
          </a:p>
        </p:txBody>
      </p:sp>
      <p:sp>
        <p:nvSpPr>
          <p:cNvPr id="5" name="Rectangle 4"/>
          <p:cNvSpPr/>
          <p:nvPr/>
        </p:nvSpPr>
        <p:spPr>
          <a:xfrm>
            <a:off x="0" y="6583680"/>
            <a:ext cx="12188952" cy="2743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731520"/>
          </a:xfrm>
          <a:prstGeom prst="rect">
            <a:avLst/>
          </a:prstGeom>
          <a:noFill/>
        </p:spPr>
        <p:txBody>
          <a:bodyPr wrap="square">
            <a:spAutoFit/>
          </a:bodyPr>
          <a:lstStyle/>
          <a:p>
            <a:pPr algn="l"/>
            <a:r>
              <a:rPr sz="3200" b="1">
                <a:solidFill>
                  <a:srgbClr val="FFFFFF"/>
                </a:solidFill>
                <a:latin typeface="メイリオ"/>
              </a:rPr>
              <a:t>社内活用：RAGチャットボット vs MCPサーバー</a:t>
            </a:r>
          </a:p>
        </p:txBody>
      </p:sp>
      <p:sp>
        <p:nvSpPr>
          <p:cNvPr id="4" name="TextBox 3"/>
          <p:cNvSpPr txBox="1"/>
          <p:nvPr/>
        </p:nvSpPr>
        <p:spPr>
          <a:xfrm>
            <a:off x="731520" y="1371600"/>
            <a:ext cx="10698480" cy="4206240"/>
          </a:xfrm>
          <a:prstGeom prst="rect">
            <a:avLst/>
          </a:prstGeom>
          <a:noFill/>
        </p:spPr>
        <p:txBody>
          <a:bodyPr wrap="square">
            <a:normAutofit/>
          </a:bodyPr>
          <a:lstStyle/>
          <a:p>
            <a:pPr algn="l"/>
            <a:r>
              <a:rPr sz="2200" b="0">
                <a:solidFill>
                  <a:srgbClr val="262626"/>
                </a:solidFill>
                <a:latin typeface="メイリオ"/>
              </a:rPr>
              <a:t>・RAG: 社内文書をベクトルDB化し類似検索。曖昧な質問・非構造化文書の横断検索に強い（規程・議事録等）</a:t>
            </a:r>
          </a:p>
          <a:p>
            <a:pPr algn="l"/>
            <a:r>
              <a:rPr sz="2200" b="0">
                <a:solidFill>
                  <a:srgbClr val="262626"/>
                </a:solidFill>
                <a:latin typeface="メイリオ"/>
              </a:rPr>
              <a:t>・MCP: 社内DB・APIにリアルタイム接続。構造化データの正確な取得に強い（在庫・受注状況等）</a:t>
            </a:r>
          </a:p>
          <a:p>
            <a:pPr algn="l"/>
            <a:r>
              <a:rPr sz="2200" b="0">
                <a:solidFill>
                  <a:srgbClr val="262626"/>
                </a:solidFill>
                <a:latin typeface="メイリオ"/>
              </a:rPr>
              <a:t>・導入コストはRAGが高め（埋め込みモデル・ベクトルDB構築）、MCPは中程度（ツール関数開発）</a:t>
            </a:r>
          </a:p>
          <a:p>
            <a:pPr algn="l"/>
            <a:r>
              <a:rPr sz="2200" b="0">
                <a:solidFill>
                  <a:srgbClr val="262626"/>
                </a:solidFill>
                <a:latin typeface="メイリオ"/>
              </a:rPr>
              <a:t>・実際の社内展開では両方を併用し、RAG自体をMCPのツールとして実装するのが現実的な構成</a:t>
            </a:r>
          </a:p>
        </p:txBody>
      </p:sp>
      <p:sp>
        <p:nvSpPr>
          <p:cNvPr id="5" name="Rectangle 4"/>
          <p:cNvSpPr/>
          <p:nvPr/>
        </p:nvSpPr>
        <p:spPr>
          <a:xfrm>
            <a:off x="731520" y="5486400"/>
            <a:ext cx="10698480" cy="8229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5486400"/>
            <a:ext cx="54864" cy="82296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5559552"/>
            <a:ext cx="10332720" cy="676656"/>
          </a:xfrm>
          <a:prstGeom prst="rect">
            <a:avLst/>
          </a:prstGeom>
          <a:noFill/>
        </p:spPr>
        <p:txBody>
          <a:bodyPr wrap="square">
            <a:normAutofit/>
          </a:bodyPr>
          <a:lstStyle/>
          <a:p>
            <a:pPr algn="l"/>
            <a:r>
              <a:rPr sz="1600" b="0">
                <a:solidFill>
                  <a:srgbClr val="1F497D"/>
                </a:solidFill>
                <a:latin typeface="メイリオ"/>
              </a:rPr>
              <a:t>RAGは「過去の知識・文書を探す」記憶装置、MCPは「今の状態・データを取ってくる」アクセス手段</a:t>
            </a:r>
          </a:p>
        </p:txBody>
      </p:sp>
      <p:sp>
        <p:nvSpPr>
          <p:cNvPr id="8" name="Rectangle 7"/>
          <p:cNvSpPr/>
          <p:nvPr/>
        </p:nvSpPr>
        <p:spPr>
          <a:xfrm>
            <a:off x="0" y="6583680"/>
            <a:ext cx="12188952" cy="274320"/>
          </a:xfrm>
          <a:prstGeom prst="rect">
            <a:avLst/>
          </a:prstGeom>
          <a:solidFill>
            <a:srgbClr val="1F49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F497D"/>
        </a:solidFill>
        <a:effectLst/>
      </p:bgPr>
    </p:bg>
    <p:spTree>
      <p:nvGrpSpPr>
        <p:cNvPr id="1" name=""/>
        <p:cNvGrpSpPr/>
        <p:nvPr/>
      </p:nvGrpSpPr>
      <p:grpSpPr/>
      <p:sp>
        <p:nvSpPr>
          <p:cNvPr id="2" name="TextBox 1"/>
          <p:cNvSpPr txBox="1"/>
          <p:nvPr/>
        </p:nvSpPr>
        <p:spPr>
          <a:xfrm>
            <a:off x="457200" y="274320"/>
            <a:ext cx="10972800" cy="822960"/>
          </a:xfrm>
          <a:prstGeom prst="rect">
            <a:avLst/>
          </a:prstGeom>
          <a:noFill/>
        </p:spPr>
        <p:txBody>
          <a:bodyPr wrap="square">
            <a:spAutoFit/>
          </a:bodyPr>
          <a:lstStyle/>
          <a:p>
            <a:pPr algn="ctr"/>
            <a:r>
              <a:rPr sz="3600" b="1">
                <a:solidFill>
                  <a:srgbClr val="FFFFFF"/>
                </a:solidFill>
                <a:latin typeface="メイリオ"/>
              </a:rPr>
              <a:t>まとめ・今後の展開</a:t>
            </a:r>
          </a:p>
        </p:txBody>
      </p:sp>
      <p:sp>
        <p:nvSpPr>
          <p:cNvPr id="3" name="Rectangle 2"/>
          <p:cNvSpPr/>
          <p:nvPr/>
        </p:nvSpPr>
        <p:spPr>
          <a:xfrm>
            <a:off x="457200" y="1005840"/>
            <a:ext cx="11274552" cy="45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80160"/>
            <a:ext cx="10698480" cy="5029200"/>
          </a:xfrm>
          <a:prstGeom prst="rect">
            <a:avLst/>
          </a:prstGeom>
          <a:noFill/>
        </p:spPr>
        <p:txBody>
          <a:bodyPr wrap="square">
            <a:normAutofit/>
          </a:bodyPr>
          <a:lstStyle/>
          <a:p>
            <a:pPr algn="l"/>
            <a:r>
              <a:rPr sz="2200" b="0">
                <a:solidFill>
                  <a:srgbClr val="FFFFFF"/>
                </a:solidFill>
                <a:latin typeface="メイリオ"/>
              </a:rPr>
              <a:t>・気象庁の公開APIをMCPサーバー化し、Claude Codeから自然言語で天気予報・警報・潮位情報を取得できるようにした</a:t>
            </a:r>
          </a:p>
          <a:p>
            <a:pPr algn="l"/>
            <a:r>
              <a:rPr sz="2200" b="0">
                <a:solidFill>
                  <a:srgbClr val="FFFFFF"/>
                </a:solidFill>
                <a:latin typeface="メイリオ"/>
              </a:rPr>
              <a:t>・認証不要の気象庁APIとstdioベースのシンプルな構成により、低コストで導入・運用できる</a:t>
            </a:r>
          </a:p>
          <a:p>
            <a:pPr algn="l"/>
            <a:r>
              <a:rPr sz="2200" b="0">
                <a:solidFill>
                  <a:srgbClr val="FFFFFF"/>
                </a:solidFill>
                <a:latin typeface="メイリオ"/>
              </a:rPr>
              <a:t>・社内システムへの応用として、RAGとMCPを組み合わせた統合的な情報アクセス基盤の構築が今後の展開として考えられる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