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1645920"/>
            <a:ext cx="10360152" cy="246888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828800"/>
            <a:ext cx="9875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メイリオ"/>
              </a:rPr>
              <a:t>jma-mcp-remote — JMA MCP サーバー リモート版（HTTP/SSE）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291840"/>
            <a:ext cx="9875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FFFFFF"/>
                </a:solidFill>
                <a:latin typeface="メイリオ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02920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0">
                <a:solidFill>
                  <a:srgbClr val="262626"/>
                </a:solidFill>
                <a:latin typeface="メイリオ"/>
              </a:rPr>
              <a:t>　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メイリオ"/>
              </a:rPr>
              <a:t>目次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058400" cy="5029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>
                <a:solidFill>
                  <a:srgbClr val="262626"/>
                </a:solidFill>
                <a:latin typeface="メイリオ"/>
              </a:rPr>
              <a:t>  1.  jma-mcp-remote — JMA MCP サーバー リモート版（HTTP/SSE）</a:t>
            </a:r>
          </a:p>
          <a:p>
            <a:pPr algn="l"/>
            <a:r>
              <a:rPr sz="2200" b="0">
                <a:solidFill>
                  <a:srgbClr val="262626"/>
                </a:solidFill>
                <a:latin typeface="メイリオ"/>
              </a:rPr>
              <a:t>  2.  概要</a:t>
            </a:r>
          </a:p>
          <a:p>
            <a:pPr algn="l"/>
            <a:r>
              <a:rPr sz="2200" b="0">
                <a:solidFill>
                  <a:srgbClr val="262626"/>
                </a:solidFill>
                <a:latin typeface="メイリオ"/>
              </a:rPr>
              <a:t>  3.  ファイル構成</a:t>
            </a:r>
          </a:p>
          <a:p>
            <a:pPr algn="l"/>
            <a:r>
              <a:rPr sz="2200" b="0">
                <a:solidFill>
                  <a:srgbClr val="262626"/>
                </a:solidFill>
                <a:latin typeface="メイリオ"/>
              </a:rPr>
              <a:t>  4.  ローカル版との違い</a:t>
            </a:r>
          </a:p>
          <a:p>
            <a:pPr algn="l"/>
            <a:r>
              <a:rPr sz="2200" b="0">
                <a:solidFill>
                  <a:srgbClr val="262626"/>
                </a:solidFill>
                <a:latin typeface="メイリオ"/>
              </a:rPr>
              <a:t>  5.  Claude.ai への接続</a:t>
            </a:r>
          </a:p>
          <a:p>
            <a:pPr algn="l"/>
            <a:r>
              <a:rPr sz="2200" b="0">
                <a:solidFill>
                  <a:srgbClr val="262626"/>
                </a:solidFill>
                <a:latin typeface="メイリオ"/>
              </a:rPr>
              <a:t>  6.  注意事項</a:t>
            </a:r>
          </a:p>
          <a:p>
            <a:pPr algn="l"/>
            <a:r>
              <a:rPr sz="2200" b="0">
                <a:solidFill>
                  <a:srgbClr val="262626"/>
                </a:solidFill>
                <a:latin typeface="メイリオ"/>
              </a:rPr>
              <a:t>  7.  GitHub</a:t>
            </a:r>
          </a:p>
          <a:p>
            <a:pPr algn="l"/>
            <a:r>
              <a:rPr sz="2200" b="0">
                <a:solidFill>
                  <a:srgbClr val="262626"/>
                </a:solidFill>
                <a:latin typeface="メイリオ"/>
              </a:rPr>
              <a:t>  8.  jma-mcp-remote — JMA MCP サーバー リモート版（HTTP/SSE）</a:t>
            </a:r>
          </a:p>
          <a:p>
            <a:pPr algn="l"/>
            <a:r>
              <a:rPr sz="2200" b="0">
                <a:solidFill>
                  <a:srgbClr val="262626"/>
                </a:solidFill>
                <a:latin typeface="メイリオ"/>
              </a:rPr>
              <a:t>  9.  概要</a:t>
            </a:r>
          </a:p>
          <a:p>
            <a:pPr algn="l"/>
            <a:r>
              <a:rPr sz="2200" b="0">
                <a:solidFill>
                  <a:srgbClr val="262626"/>
                </a:solidFill>
                <a:latin typeface="メイリオ"/>
              </a:rPr>
              <a:t>  10.  ローカル版との違い</a:t>
            </a:r>
          </a:p>
          <a:p>
            <a:pPr algn="l"/>
            <a:r>
              <a:rPr sz="2200" b="0">
                <a:solidFill>
                  <a:srgbClr val="262626"/>
                </a:solidFill>
                <a:latin typeface="メイリオ"/>
              </a:rPr>
              <a:t>  11.  ファイル構成</a:t>
            </a:r>
          </a:p>
          <a:p>
            <a:pPr algn="l"/>
            <a:r>
              <a:rPr sz="2200" b="0">
                <a:solidFill>
                  <a:srgbClr val="262626"/>
                </a:solidFill>
                <a:latin typeface="メイリオ"/>
              </a:rPr>
              <a:t>  12.  Render へのデプロイ手順</a:t>
            </a:r>
          </a:p>
          <a:p>
            <a:pPr algn="l"/>
            <a:r>
              <a:rPr sz="2200" b="0">
                <a:solidFill>
                  <a:srgbClr val="262626"/>
                </a:solidFill>
                <a:latin typeface="メイリオ"/>
              </a:rPr>
              <a:t>  13.  Claude.ai への接続手順</a:t>
            </a:r>
          </a:p>
          <a:p>
            <a:pPr algn="l"/>
            <a:r>
              <a:rPr sz="2200" b="0">
                <a:solidFill>
                  <a:srgbClr val="262626"/>
                </a:solidFill>
                <a:latin typeface="メイリオ"/>
              </a:rPr>
              <a:t>  14.  出典リンク表示設定（Projectsカスタム指示）</a:t>
            </a:r>
          </a:p>
          <a:p>
            <a:pPr algn="l"/>
            <a:r>
              <a:rPr sz="2200" b="0">
                <a:solidFill>
                  <a:srgbClr val="262626"/>
                </a:solidFill>
                <a:latin typeface="メイリオ"/>
              </a:rPr>
              <a:t>  15.  クライアント別対応状況</a:t>
            </a:r>
          </a:p>
          <a:p>
            <a:pPr algn="l"/>
            <a:r>
              <a:rPr sz="2200" b="0">
                <a:solidFill>
                  <a:srgbClr val="262626"/>
                </a:solidFill>
                <a:latin typeface="メイリオ"/>
              </a:rPr>
              <a:t>  16.  注意事項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メイリオ"/>
              </a:rPr>
              <a:t>jma-mcp-remote — JMA MCP サーバー リモート版（HTTP/SSE）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22326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>
                <a:solidFill>
                  <a:srgbClr val="262626"/>
                </a:solidFill>
                <a:latin typeface="メイリオ"/>
              </a:rPr>
              <a:t>詳しくは [jma-mcp-remote.md](jma-mcp-remote.md) を参照。</a:t>
            </a:r>
          </a:p>
          <a:p>
            <a:pPr algn="l"/>
            <a:r>
              <a:rPr sz="2200" b="0">
                <a:solidFill>
                  <a:srgbClr val="262626"/>
                </a:solidFill>
                <a:latin typeface="メイリオ"/>
              </a:rPr>
              <a:t/>
            </a:r>
          </a:p>
          <a:p>
            <a:pPr algn="l"/>
            <a:r>
              <a:rPr sz="2200" b="0">
                <a:solidFill>
                  <a:srgbClr val="262626"/>
                </a:solidFill>
                <a:latin typeface="メイリオ"/>
              </a:rPr>
              <a:t/>
            </a:r>
          </a:p>
          <a:p>
            <a:pPr algn="l"/>
            <a:r>
              <a:rPr sz="2200" b="0">
                <a:solidFill>
                  <a:srgbClr val="262626"/>
                </a:solidFill>
                <a:latin typeface="メイリオ"/>
              </a:rPr>
              <a:t>jma_mcp（stdio ローカル版）をベースに HTTP/SSE 通信へ切り替えたリモートデプロイ版。</a:t>
            </a:r>
          </a:p>
          <a:p>
            <a:pPr algn="l"/>
            <a:r>
              <a:rPr sz="2200" b="0">
                <a:solidFill>
                  <a:srgbClr val="262626"/>
                </a:solidFill>
                <a:latin typeface="メイリオ"/>
              </a:rPr>
              <a:t>Render にデプロイし、Claude.ai Web版・デスクトップアプリから使用する。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メイリオ"/>
              </a:rPr>
              <a:t>概要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371600"/>
          <a:ext cx="10698480" cy="22402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349240"/>
                <a:gridCol w="5349240"/>
              </a:tblGrid>
              <a:tr h="32004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メイリオ"/>
                        </a:rPr>
                        <a:t>項目</a:t>
                      </a:r>
                    </a:p>
                  </a:txBody>
                  <a:tcPr anchor="ctr" marL="73152" marR="73152" marT="27432" marB="27432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メイリオ"/>
                        </a:rPr>
                        <a:t>内容</a:t>
                      </a:r>
                    </a:p>
                  </a:txBody>
                  <a:tcPr anchor="ctr" marL="73152" marR="73152" marT="27432" marB="27432">
                    <a:solidFill>
                      <a:srgbClr val="1F497D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メイリオ"/>
                        </a:rPr>
                        <a:t>プロトコル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メイリオ"/>
                        </a:rPr>
                        <a:t>MCP（Model Context Protocol）/ HTTP + SSE ベース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メイリオ"/>
                        </a:rPr>
                        <a:t>デプロイ先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メイリオ"/>
                        </a:rPr>
                        <a:t>Render（Web Service）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メイリオ"/>
                        </a:rPr>
                        <a:t>SSE エンドポイント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メイリオ"/>
                        </a:rPr>
                        <a:t>https://jma-mcp-remote.onrender.com/sse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メイリオ"/>
                        </a:rPr>
                        <a:t>対応クライアント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メイリオ"/>
                        </a:rPr>
                        <a:t>Claude.ai Web版・デスクトップアプリ（macOS）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メイリオ"/>
                        </a:rPr>
                        <a:t>非対応クライアント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メイリオ"/>
                        </a:rPr>
                        <a:t>iPhone版 Claude（MCP未対応のため要約版になる）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メイリオ"/>
                        </a:rPr>
                        <a:t>GitHub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メイリオ"/>
                        </a:rPr>
                        <a:t>https://github.com/masauehr/jma-mcp-remote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メイリオ"/>
              </a:rPr>
              <a:t>ファイル構成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7018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54864" cy="17018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463040"/>
            <a:ext cx="10058400" cy="151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62626"/>
                </a:solidFill>
                <a:latin typeface="Courier New"/>
              </a:rPr>
              <a:t>jma_mcp_remote/</a:t>
            </a:r>
          </a:p>
          <a:p>
            <a:pPr algn="l"/>
            <a:r>
              <a:rPr sz="1300" b="0">
                <a:solidFill>
                  <a:srgbClr val="262626"/>
                </a:solidFill>
                <a:latin typeface="Courier New"/>
              </a:rPr>
              <a:t>├── server.py              # jma_mcp/server.py から起動部分のみ SSE に変更</a:t>
            </a:r>
          </a:p>
          <a:p>
            <a:pPr algn="l"/>
            <a:r>
              <a:rPr sz="1300" b="0">
                <a:solidFill>
                  <a:srgbClr val="262626"/>
                </a:solidFill>
                <a:latin typeface="Courier New"/>
              </a:rPr>
              <a:t>├── areas.py               # jma_mcp/areas.py からコピー</a:t>
            </a:r>
          </a:p>
          <a:p>
            <a:pPr algn="l"/>
            <a:r>
              <a:rPr sz="1300" b="0">
                <a:solidFill>
                  <a:srgbClr val="262626"/>
                </a:solidFill>
                <a:latin typeface="Courier New"/>
              </a:rPr>
              <a:t>├── requirements.txt       # mcp, requests, uvicorn, starlette</a:t>
            </a:r>
          </a:p>
          <a:p>
            <a:pPr algn="l"/>
            <a:r>
              <a:rPr sz="1300" b="0">
                <a:solidFill>
                  <a:srgbClr val="262626"/>
                </a:solidFill>
                <a:latin typeface="Courier New"/>
              </a:rPr>
              <a:t>├── render.yaml            # Render デプロイ設定</a:t>
            </a:r>
          </a:p>
          <a:p>
            <a:pPr algn="l"/>
            <a:r>
              <a:rPr sz="1300" b="0">
                <a:solidFill>
                  <a:srgbClr val="262626"/>
                </a:solidFill>
                <a:latin typeface="Courier New"/>
              </a:rPr>
              <a:t>├── jma-mcp-remote.md      # このプロジェクトの詳細マニュアル</a:t>
            </a:r>
          </a:p>
          <a:p>
            <a:pPr algn="l"/>
            <a:r>
              <a:rPr sz="1300" b="0">
                <a:solidFill>
                  <a:srgbClr val="262626"/>
                </a:solidFill>
                <a:latin typeface="Courier New"/>
              </a:rPr>
              <a:t>├── .mcp.json              # Claude Code からリモート接続する場合の設定（gitignore済み）</a:t>
            </a:r>
          </a:p>
          <a:p>
            <a:pPr algn="l"/>
            <a:r>
              <a:rPr sz="1300" b="0">
                <a:solidFill>
                  <a:srgbClr val="262626"/>
                </a:solidFill>
                <a:latin typeface="Courier New"/>
              </a:rPr>
              <a:t>└── .gitignore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メイリオ"/>
              </a:rPr>
              <a:t>ローカル版との違い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371600"/>
          <a:ext cx="10698480" cy="19202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566160"/>
                <a:gridCol w="3566160"/>
                <a:gridCol w="3566160"/>
              </a:tblGrid>
              <a:tr h="32004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メイリオ"/>
                        </a:rPr>
                        <a:t>比較項目</a:t>
                      </a:r>
                    </a:p>
                  </a:txBody>
                  <a:tcPr anchor="ctr" marL="73152" marR="73152" marT="27432" marB="27432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メイリオ"/>
                        </a:rPr>
                        <a:t>jma_mcp（ローカル版）</a:t>
                      </a:r>
                    </a:p>
                  </a:txBody>
                  <a:tcPr anchor="ctr" marL="73152" marR="73152" marT="27432" marB="27432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メイリオ"/>
                        </a:rPr>
                        <a:t>jma_mcp_remote（リモート版）</a:t>
                      </a:r>
                    </a:p>
                  </a:txBody>
                  <a:tcPr anchor="ctr" marL="73152" marR="73152" marT="27432" marB="27432">
                    <a:solidFill>
                      <a:srgbClr val="1F497D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メイリオ"/>
                        </a:rPr>
                        <a:t>通信方式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メイリオ"/>
                        </a:rPr>
                        <a:t>stdio（標準入出力）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メイリオ"/>
                        </a:rPr>
                        <a:t>HTTP + SSE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メイリオ"/>
                        </a:rPr>
                        <a:t>起動方法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メイリオ"/>
                        </a:rPr>
                        <a:t>Claude Code がサブプロセス起動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メイリオ"/>
                        </a:rPr>
                        <a:t>Render 上で常駐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メイリオ"/>
                        </a:rPr>
                        <a:t>対応クライアント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メイリオ"/>
                        </a:rPr>
                        <a:t>Claude Code（CLI）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メイリオ"/>
                        </a:rPr>
                        <a:t>Claude.ai Web・デスクトップアプリ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メイリオ"/>
                        </a:rPr>
                        <a:t>コスト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メイリオ"/>
                        </a:rPr>
                        <a:t>無料（ローカル実行）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メイリオ"/>
                        </a:rPr>
                        <a:t>Render 無料プラン（スリープあり）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メイリオ"/>
                        </a:rPr>
                        <a:t>ツール内容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メイリオ"/>
                        </a:rPr>
                        <a:t>全19種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メイリオ"/>
                        </a:rPr>
                        <a:t>同一（server.py を共有）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メイリオ"/>
              </a:rPr>
              <a:t>Claude.ai への接続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118491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>
                <a:solidFill>
                  <a:srgbClr val="262626"/>
                </a:solidFill>
                <a:latin typeface="メイリオ"/>
              </a:rPr>
              <a:t>1. Claude.ai 設定 → コネクタ</a:t>
            </a:r>
          </a:p>
          <a:p>
            <a:pPr algn="l"/>
            <a:r>
              <a:rPr sz="2200" b="0">
                <a:solidFill>
                  <a:srgbClr val="262626"/>
                </a:solidFill>
                <a:latin typeface="メイリオ"/>
              </a:rPr>
              <a:t>2. カスタムコネクタを追加</a:t>
            </a:r>
          </a:p>
          <a:p>
            <a:pPr algn="l"/>
            <a:r>
              <a:rPr sz="2200" b="0">
                <a:solidFill>
                  <a:srgbClr val="262626"/>
                </a:solidFill>
                <a:latin typeface="メイリオ"/>
              </a:rPr>
              <a:t>3. URL: https://jma-mcp-remote.onrender.com/sse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556510"/>
            <a:ext cx="10698480" cy="8229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556510"/>
            <a:ext cx="54864" cy="82296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629662"/>
            <a:ext cx="10332720" cy="6766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600" b="0">
                <a:solidFill>
                  <a:srgbClr val="1F497D"/>
                </a:solidFill>
                <a:latin typeface="メイリオ"/>
              </a:rPr>
              <a:t>Web版で登録した設定はデスクトップアプリにも自動共有される。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メイリオ"/>
              </a:rPr>
              <a:t>注意事項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15341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>
                <a:solidFill>
                  <a:srgbClr val="262626"/>
                </a:solidFill>
                <a:latin typeface="メイリオ"/>
              </a:rPr>
              <a:t>・Render 無料プランは15分間アクセスがないとスリープ。次回アクセス時に30〜60秒かかる。</a:t>
            </a:r>
          </a:p>
          <a:p>
            <a:pPr algn="l"/>
            <a:r>
              <a:rPr sz="2200" b="0">
                <a:solidFill>
                  <a:srgbClr val="262626"/>
                </a:solidFill>
                <a:latin typeface="メイリオ"/>
              </a:rPr>
              <a:t>・jma_mcp/server.py にツールを追加した場合は jma_mcp_remote/server.py にも反映すること（差分は起動部分のみ）。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メイリオ"/>
              </a:rPr>
              <a:t>GitHub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8356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>
                <a:solidFill>
                  <a:srgbClr val="262626"/>
                </a:solidFill>
                <a:latin typeface="メイリオ"/>
              </a:rPr>
              <a:t>[https://github.com/masauehr/jma-mcp-remote](https://github.com/masauehr/jma-mcp-remote)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メイリオ"/>
              </a:rPr>
              <a:t>jma-mcp-remote — JMA MCP サーバー リモート版（HTTP/SSE）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15341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>
                <a:solidFill>
                  <a:srgbClr val="262626"/>
                </a:solidFill>
                <a:latin typeface="メイリオ"/>
              </a:rPr>
              <a:t>jma_mcp（stdio ローカル版）をベースに HTTP/SSE 通信へ切り替えたリモートデプロイ版。</a:t>
            </a:r>
          </a:p>
          <a:p>
            <a:pPr algn="l"/>
            <a:r>
              <a:rPr sz="2200" b="0">
                <a:solidFill>
                  <a:srgbClr val="262626"/>
                </a:solidFill>
                <a:latin typeface="メイリオ"/>
              </a:rPr>
              <a:t>Render にデプロイし、Claude.ai Web版・デスクトップアプリ・iPhone版から使用する。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メイリオ"/>
              </a:rPr>
              <a:t>概要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371600"/>
          <a:ext cx="10698480" cy="19202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349240"/>
                <a:gridCol w="5349240"/>
              </a:tblGrid>
              <a:tr h="32004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メイリオ"/>
                        </a:rPr>
                        <a:t>項目</a:t>
                      </a:r>
                    </a:p>
                  </a:txBody>
                  <a:tcPr anchor="ctr" marL="73152" marR="73152" marT="27432" marB="27432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メイリオ"/>
                        </a:rPr>
                        <a:t>内容</a:t>
                      </a:r>
                    </a:p>
                  </a:txBody>
                  <a:tcPr anchor="ctr" marL="73152" marR="73152" marT="27432" marB="27432">
                    <a:solidFill>
                      <a:srgbClr val="1F497D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メイリオ"/>
                        </a:rPr>
                        <a:t>プロトコル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メイリオ"/>
                        </a:rPr>
                        <a:t>MCP（Model Context Protocol）/ HTTP + SSE ベース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メイリオ"/>
                        </a:rPr>
                        <a:t>デプロイ先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メイリオ"/>
                        </a:rPr>
                        <a:t>Render（Web Service）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メイリオ"/>
                        </a:rPr>
                        <a:t>SSE エンドポイント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メイリオ"/>
                        </a:rPr>
                        <a:t>https://jma-mcp-remote.onrender.com/sse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メイリオ"/>
                        </a:rPr>
                        <a:t>対応クライアント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メイリオ"/>
                        </a:rPr>
                        <a:t>Claude.ai Web版・デスクトップアプリ（macOS）・iPhone版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メイリオ"/>
                        </a:rPr>
                        <a:t>GitHub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メイリオ"/>
                        </a:rPr>
                        <a:t>https://github.com/masauehr/jma-mcp-remote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メイリオ"/>
              </a:rPr>
              <a:t>ローカル版との違い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371600"/>
          <a:ext cx="10698480" cy="263448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566160"/>
                <a:gridCol w="3566160"/>
                <a:gridCol w="3566160"/>
              </a:tblGrid>
              <a:tr h="32004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メイリオ"/>
                        </a:rPr>
                        <a:t>比較項目</a:t>
                      </a:r>
                    </a:p>
                  </a:txBody>
                  <a:tcPr anchor="ctr" marL="73152" marR="73152" marT="27432" marB="27432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メイリオ"/>
                        </a:rPr>
                        <a:t>jma_mcp（ローカル版）</a:t>
                      </a:r>
                    </a:p>
                  </a:txBody>
                  <a:tcPr anchor="ctr" marL="73152" marR="73152" marT="27432" marB="27432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メイリオ"/>
                        </a:rPr>
                        <a:t>jma_mcp_remote（リモート版）</a:t>
                      </a:r>
                    </a:p>
                  </a:txBody>
                  <a:tcPr anchor="ctr" marL="73152" marR="73152" marT="27432" marB="27432">
                    <a:solidFill>
                      <a:srgbClr val="1F497D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メイリオ"/>
                        </a:rPr>
                        <a:t>通信方式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メイリオ"/>
                        </a:rPr>
                        <a:t>stdio（標準入出力）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メイリオ"/>
                        </a:rPr>
                        <a:t>HTTP + SSE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メイリオ"/>
                        </a:rPr>
                        <a:t>起動方法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メイリオ"/>
                        </a:rPr>
                        <a:t>Claude Code がサブプロセス起動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メイリオ"/>
                        </a:rPr>
                        <a:t>Render 上で常駐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714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メイリオ"/>
                        </a:rPr>
                        <a:t>対応クライアント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メイリオ"/>
                        </a:rPr>
                        <a:t>Claude Code（CLI）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メイリオ"/>
                        </a:rPr>
                        <a:t>Claude.ai Web・デスクトップアプリ・iPhone版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714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メイリオ"/>
                        </a:rPr>
                        <a:t>設定ファイル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メイリオ"/>
                        </a:rPr>
                        <a:t>.mcp.json（command/args）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メイリオ"/>
                        </a:rPr>
                        <a:t>.mcp.json または Claude.ai 設定（url）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メイリオ"/>
                        </a:rPr>
                        <a:t>コスト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メイリオ"/>
                        </a:rPr>
                        <a:t>無料（ローカル実行）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メイリオ"/>
                        </a:rPr>
                        <a:t>Render 無料プラン（スリープあり）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メイリオ"/>
                        </a:rPr>
                        <a:t>ツール内容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メイリオ"/>
                        </a:rPr>
                        <a:t>全21種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メイリオ"/>
                        </a:rPr>
                        <a:t>同一（server.py を共有）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メイリオ"/>
              </a:rPr>
              <a:t>ファイル構成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891665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54864" cy="1891665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463040"/>
            <a:ext cx="10058400" cy="17087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62626"/>
                </a:solidFill>
                <a:latin typeface="Courier New"/>
              </a:rPr>
              <a:t>jma_mcp_remote/</a:t>
            </a:r>
          </a:p>
          <a:p>
            <a:pPr algn="l"/>
            <a:r>
              <a:rPr sz="1300" b="0">
                <a:solidFill>
                  <a:srgbClr val="262626"/>
                </a:solidFill>
                <a:latin typeface="Courier New"/>
              </a:rPr>
              <a:t>├── server.py          # jma_mcp/server.py から起動部分のみ SSE に変更</a:t>
            </a:r>
          </a:p>
          <a:p>
            <a:pPr algn="l"/>
            <a:r>
              <a:rPr sz="1300" b="0">
                <a:solidFill>
                  <a:srgbClr val="262626"/>
                </a:solidFill>
                <a:latin typeface="Courier New"/>
              </a:rPr>
              <a:t>├── areas.py           # jma_mcp/areas.py からコピー</a:t>
            </a:r>
          </a:p>
          <a:p>
            <a:pPr algn="l"/>
            <a:r>
              <a:rPr sz="1300" b="0">
                <a:solidFill>
                  <a:srgbClr val="262626"/>
                </a:solidFill>
                <a:latin typeface="Courier New"/>
              </a:rPr>
              <a:t>├── requirements.txt   # mcp, requests, uvicorn, starlette</a:t>
            </a:r>
          </a:p>
          <a:p>
            <a:pPr algn="l"/>
            <a:r>
              <a:rPr sz="1300" b="0">
                <a:solidFill>
                  <a:srgbClr val="262626"/>
                </a:solidFill>
                <a:latin typeface="Courier New"/>
              </a:rPr>
              <a:t>├── render.yaml        # Render デプロイ設定</a:t>
            </a:r>
          </a:p>
          <a:p>
            <a:pPr algn="l"/>
            <a:r>
              <a:rPr sz="1300" b="0">
                <a:solidFill>
                  <a:srgbClr val="262626"/>
                </a:solidFill>
                <a:latin typeface="Courier New"/>
              </a:rPr>
              <a:t>├── README.md          # プロジェクト概要</a:t>
            </a:r>
          </a:p>
          <a:p>
            <a:pPr algn="l"/>
            <a:r>
              <a:rPr sz="1300" b="0">
                <a:solidFill>
                  <a:srgbClr val="262626"/>
                </a:solidFill>
                <a:latin typeface="Courier New"/>
              </a:rPr>
              <a:t>├── jma-mcp-remote.md  # このファイル（詳細マニュアル）</a:t>
            </a:r>
          </a:p>
          <a:p>
            <a:pPr algn="l"/>
            <a:r>
              <a:rPr sz="1300" b="0">
                <a:solidFill>
                  <a:srgbClr val="262626"/>
                </a:solidFill>
                <a:latin typeface="Courier New"/>
              </a:rPr>
              <a:t>├── .mcp.json          # Claude Code からリモート接続する場合の設定（gitignore済み）</a:t>
            </a:r>
          </a:p>
          <a:p>
            <a:pPr algn="l"/>
            <a:r>
              <a:rPr sz="1300" b="0">
                <a:solidFill>
                  <a:srgbClr val="262626"/>
                </a:solidFill>
                <a:latin typeface="Courier New"/>
              </a:rPr>
              <a:t>└── .gitignore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メイリオ"/>
              </a:rPr>
              <a:t>Render へのデプロイ手順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8996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000" b="0">
                <a:solidFill>
                  <a:srgbClr val="262626"/>
                </a:solidFill>
                <a:latin typeface="メイリオ"/>
              </a:rPr>
              <a:t>1. Render ダッシュボードを開く</a:t>
            </a:r>
          </a:p>
          <a:p>
            <a:pPr algn="l"/>
            <a:r>
              <a:rPr sz="2000" b="0">
                <a:solidFill>
                  <a:srgbClr val="262626"/>
                </a:solidFill>
                <a:latin typeface="メイリオ"/>
              </a:rPr>
              <a:t/>
            </a:r>
          </a:p>
          <a:p>
            <a:pPr algn="l"/>
            <a:r>
              <a:rPr sz="2000" b="0">
                <a:solidFill>
                  <a:srgbClr val="262626"/>
                </a:solidFill>
                <a:latin typeface="メイリオ"/>
              </a:rPr>
              <a:t>https://dashboard.render.com</a:t>
            </a:r>
          </a:p>
          <a:p>
            <a:pPr algn="l"/>
            <a:r>
              <a:rPr sz="2000" b="0">
                <a:solidFill>
                  <a:srgbClr val="262626"/>
                </a:solidFill>
                <a:latin typeface="メイリオ"/>
              </a:rPr>
              <a:t/>
            </a:r>
          </a:p>
          <a:p>
            <a:pPr algn="l"/>
            <a:r>
              <a:rPr sz="2000" b="0">
                <a:solidFill>
                  <a:srgbClr val="262626"/>
                </a:solidFill>
                <a:latin typeface="メイリオ"/>
              </a:rPr>
              <a:t>2. Web Service を新規作成</a:t>
            </a:r>
          </a:p>
          <a:p>
            <a:pPr algn="l"/>
            <a:r>
              <a:rPr sz="2000" b="0">
                <a:solidFill>
                  <a:srgbClr val="262626"/>
                </a:solidFill>
                <a:latin typeface="メイリオ"/>
              </a:rPr>
              <a:t/>
            </a:r>
          </a:p>
          <a:p>
            <a:pPr algn="l"/>
            <a:r>
              <a:rPr sz="2000" b="0">
                <a:solidFill>
                  <a:srgbClr val="262626"/>
                </a:solidFill>
                <a:latin typeface="メイリオ"/>
              </a:rPr>
              <a:t>・New → Web Service</a:t>
            </a:r>
          </a:p>
          <a:p>
            <a:pPr algn="l"/>
            <a:r>
              <a:rPr sz="2000" b="0">
                <a:solidFill>
                  <a:srgbClr val="262626"/>
                </a:solidFill>
                <a:latin typeface="メイリオ"/>
              </a:rPr>
              <a:t>・GitHub リポジトリ masauehr/jma-mcp-remote を接続</a:t>
            </a:r>
          </a:p>
          <a:p>
            <a:pPr algn="l"/>
            <a:r>
              <a:rPr sz="2000" b="0">
                <a:solidFill>
                  <a:srgbClr val="262626"/>
                </a:solidFill>
                <a:latin typeface="メイリオ"/>
              </a:rPr>
              <a:t/>
            </a:r>
          </a:p>
          <a:p>
            <a:pPr algn="l"/>
            <a:r>
              <a:rPr sz="2000" b="0">
                <a:solidFill>
                  <a:srgbClr val="262626"/>
                </a:solidFill>
                <a:latin typeface="メイリオ"/>
              </a:rPr>
              <a:t>3. ビルド・起動設定</a:t>
            </a:r>
          </a:p>
          <a:p>
            <a:pPr algn="l"/>
            <a:r>
              <a:rPr sz="2000" b="0">
                <a:solidFill>
                  <a:srgbClr val="262626"/>
                </a:solidFill>
                <a:latin typeface="メイリオ"/>
              </a:rPr>
              <a:t/>
            </a:r>
          </a:p>
          <a:p>
            <a:pPr algn="l"/>
            <a:r>
              <a:rPr sz="2000" b="0">
                <a:solidFill>
                  <a:srgbClr val="262626"/>
                </a:solidFill>
                <a:latin typeface="メイリオ"/>
              </a:rPr>
              <a:t/>
            </a:r>
          </a:p>
          <a:p>
            <a:pPr algn="l"/>
            <a:r>
              <a:rPr sz="2000" b="0">
                <a:solidFill>
                  <a:srgbClr val="262626"/>
                </a:solidFill>
                <a:latin typeface="メイリオ"/>
              </a:rPr>
              <a:t>4. デプロイ完了後の確認</a:t>
            </a:r>
          </a:p>
          <a:p>
            <a:pPr algn="l"/>
            <a:r>
              <a:rPr sz="2000" b="0">
                <a:solidFill>
                  <a:srgbClr val="262626"/>
                </a:solidFill>
                <a:latin typeface="メイリオ"/>
              </a:rPr>
              <a:t/>
            </a:r>
          </a:p>
          <a:p>
            <a:pPr algn="l"/>
            <a:r>
              <a:rPr sz="2000" b="0">
                <a:solidFill>
                  <a:srgbClr val="262626"/>
                </a:solidFill>
                <a:latin typeface="メイリオ"/>
              </a:rPr>
              <a:t>Render のログに以下が表示されれば起動成功：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6271260"/>
          <a:ext cx="10698480" cy="6400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349240"/>
                <a:gridCol w="5349240"/>
              </a:tblGrid>
              <a:tr h="1600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メイリオ"/>
                        </a:rPr>
                        <a:t>項目</a:t>
                      </a:r>
                    </a:p>
                  </a:txBody>
                  <a:tcPr anchor="ctr" marL="73152" marR="73152" marT="27432" marB="27432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メイリオ"/>
                        </a:rPr>
                        <a:t>設定値</a:t>
                      </a:r>
                    </a:p>
                  </a:txBody>
                  <a:tcPr anchor="ctr" marL="73152" marR="73152" marT="27432" marB="27432">
                    <a:solidFill>
                      <a:srgbClr val="1F497D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メイリオ"/>
                        </a:rPr>
                        <a:t>Build Command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メイリオ"/>
                        </a:rPr>
                        <a:t>pip install -r requirements.txt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メイリオ"/>
                        </a:rPr>
                        <a:t>Start Command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メイリオ"/>
                        </a:rPr>
                        <a:t>python server.py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メイリオ"/>
                        </a:rPr>
                        <a:t>Root Directory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メイリオ"/>
                        </a:rPr>
                        <a:t>（空欄）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31520" y="7094220"/>
            <a:ext cx="10698480" cy="27432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7094220"/>
            <a:ext cx="54864" cy="2743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7185660"/>
            <a:ext cx="1005840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62626"/>
                </a:solidFill>
                <a:latin typeface="Courier New"/>
              </a:rPr>
              <a:t>Uvicorn running on http://0.0.0.0:XXXXX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メイリオ"/>
              </a:rPr>
              <a:t>Claude.ai への接続手順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2646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000" b="0">
                <a:solidFill>
                  <a:srgbClr val="262626"/>
                </a:solidFill>
                <a:latin typeface="メイリオ"/>
              </a:rPr>
              <a:t>Web版・デスクトップアプリ・iPhone版 共通</a:t>
            </a:r>
          </a:p>
          <a:p>
            <a:pPr algn="l"/>
            <a:r>
              <a:rPr sz="2000" b="0">
                <a:solidFill>
                  <a:srgbClr val="262626"/>
                </a:solidFill>
                <a:latin typeface="メイリオ"/>
              </a:rPr>
              <a:t/>
            </a:r>
          </a:p>
          <a:p>
            <a:pPr algn="l"/>
            <a:r>
              <a:rPr sz="2000" b="0">
                <a:solidFill>
                  <a:srgbClr val="262626"/>
                </a:solidFill>
                <a:latin typeface="メイリオ"/>
              </a:rPr>
              <a:t>1. 設定 → コネクタ</a:t>
            </a:r>
          </a:p>
          <a:p>
            <a:pPr algn="l"/>
            <a:r>
              <a:rPr sz="2000" b="0">
                <a:solidFill>
                  <a:srgbClr val="262626"/>
                </a:solidFill>
                <a:latin typeface="メイリオ"/>
              </a:rPr>
              <a:t>2. カスタムコネクタを追加</a:t>
            </a:r>
          </a:p>
          <a:p>
            <a:pPr algn="l"/>
            <a:r>
              <a:rPr sz="2000" b="0">
                <a:solidFill>
                  <a:srgbClr val="262626"/>
                </a:solidFill>
                <a:latin typeface="メイリオ"/>
              </a:rPr>
              <a:t>3. 以下を入力：</a:t>
            </a:r>
          </a:p>
          <a:p>
            <a:pPr algn="l"/>
            <a:r>
              <a:rPr sz="2000" b="0">
                <a:solidFill>
                  <a:srgbClr val="262626"/>
                </a:solidFill>
                <a:latin typeface="メイリオ"/>
              </a:rPr>
              <a:t>・名前: jma-mcp-render（任意）</a:t>
            </a:r>
          </a:p>
          <a:p>
            <a:pPr algn="l"/>
            <a:r>
              <a:rPr sz="2000" b="0">
                <a:solidFill>
                  <a:srgbClr val="262626"/>
                </a:solidFill>
                <a:latin typeface="メイリオ"/>
              </a:rPr>
              <a:t>・URL: https://jma-mcp-remote.onrender.com/sse</a:t>
            </a:r>
          </a:p>
          <a:p>
            <a:pPr algn="l"/>
            <a:r>
              <a:rPr sz="2000" b="0">
                <a:solidFill>
                  <a:srgbClr val="262626"/>
                </a:solidFill>
                <a:latin typeface="メイリオ"/>
              </a:rPr>
              <a:t>4. 追加 → 接続確認</a:t>
            </a:r>
          </a:p>
          <a:p>
            <a:pPr algn="l"/>
            <a:r>
              <a:rPr sz="2000" b="0">
                <a:solidFill>
                  <a:srgbClr val="262626"/>
                </a:solidFill>
                <a:latin typeface="メイリオ"/>
              </a:rPr>
              <a:t/>
            </a:r>
          </a:p>
          <a:p>
            <a:pPr algn="l"/>
            <a:r>
              <a:rPr sz="2000" b="0">
                <a:solidFill>
                  <a:srgbClr val="262626"/>
                </a:solidFill>
                <a:latin typeface="メイリオ"/>
              </a:rPr>
              <a:t/>
            </a:r>
          </a:p>
          <a:p>
            <a:pPr algn="l"/>
            <a:r>
              <a:rPr sz="2000" b="0">
                <a:solidFill>
                  <a:srgbClr val="262626"/>
                </a:solidFill>
                <a:latin typeface="メイリオ"/>
              </a:rPr>
              <a:t>Claude Code から使う場合（jma_mcp_remote/ 内のみ）</a:t>
            </a:r>
          </a:p>
          <a:p>
            <a:pPr algn="l"/>
            <a:r>
              <a:rPr sz="2000" b="0">
                <a:solidFill>
                  <a:srgbClr val="262626"/>
                </a:solidFill>
                <a:latin typeface="メイリオ"/>
              </a:rPr>
              <a:t/>
            </a:r>
          </a:p>
          <a:p>
            <a:pPr algn="l"/>
            <a:r>
              <a:rPr sz="2000" b="0">
                <a:solidFill>
                  <a:srgbClr val="262626"/>
                </a:solidFill>
                <a:latin typeface="メイリオ"/>
              </a:rPr>
              <a:t>jma_mcp_remote/.mcp.json（gitignore済み）に記載済み：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5636260"/>
            <a:ext cx="10698480" cy="27432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5636260"/>
            <a:ext cx="54864" cy="2743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5727700"/>
            <a:ext cx="1005840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62626"/>
                </a:solidFill>
                <a:latin typeface="Courier New"/>
              </a:rPr>
              <a:t>{</a:t>
            </a:r>
          </a:p>
          <a:p>
            <a:pPr algn="l"/>
            <a:r>
              <a:rPr sz="1300" b="0">
                <a:solidFill>
                  <a:srgbClr val="262626"/>
                </a:solidFill>
                <a:latin typeface="Courier New"/>
              </a:rPr>
              <a:t>  "mcpServers": {</a:t>
            </a:r>
          </a:p>
          <a:p>
            <a:pPr algn="l"/>
            <a:r>
              <a:rPr sz="1300" b="0">
                <a:solidFill>
                  <a:srgbClr val="262626"/>
                </a:solidFill>
                <a:latin typeface="Courier New"/>
              </a:rPr>
              <a:t>    "jma-remote": {</a:t>
            </a:r>
          </a:p>
          <a:p>
            <a:pPr algn="l"/>
            <a:r>
              <a:rPr sz="1300" b="0">
                <a:solidFill>
                  <a:srgbClr val="262626"/>
                </a:solidFill>
                <a:latin typeface="Courier New"/>
              </a:rPr>
              <a:t>      "url": "https://jma-mcp-remote.onrender.com/sse"</a:t>
            </a:r>
          </a:p>
          <a:p>
            <a:pPr algn="l"/>
            <a:r>
              <a:rPr sz="1300" b="0">
                <a:solidFill>
                  <a:srgbClr val="262626"/>
                </a:solidFill>
                <a:latin typeface="Courier New"/>
              </a:rPr>
              <a:t>    }</a:t>
            </a:r>
          </a:p>
          <a:p>
            <a:pPr algn="l"/>
            <a:r>
              <a:rPr sz="1300" b="0">
                <a:solidFill>
                  <a:srgbClr val="262626"/>
                </a:solidFill>
                <a:latin typeface="Courier New"/>
              </a:rPr>
              <a:t>  }</a:t>
            </a:r>
          </a:p>
          <a:p>
            <a:pPr algn="l"/>
            <a:r>
              <a:rPr sz="1300" b="0">
                <a:solidFill>
                  <a:srgbClr val="262626"/>
                </a:solidFill>
                <a:latin typeface="Courier New"/>
              </a:rPr>
              <a:t>}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486400"/>
            <a:ext cx="10698480" cy="8229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5486400"/>
            <a:ext cx="54864" cy="82296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5559552"/>
            <a:ext cx="10332720" cy="6766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600" b="0">
                <a:solidFill>
                  <a:srgbClr val="1F497D"/>
                </a:solidFill>
                <a:latin typeface="メイリオ"/>
              </a:rPr>
              <a:t>Web版で登録した設定はデスクトップアプリ・iPhone版にも自動共有される。 同じURLを再登録しようとすると「A server with this URL already exists.」エラーが出るが、これは登録済みのため問題なし。 iPhone版はコネクタをONにすることで動作する（2026-04-23 動作確認済み）。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メイリオ"/>
              </a:rPr>
              <a:t>出典リンク表示設定（Projectsカスタム指示）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7721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000" b="0">
                <a:solidFill>
                  <a:srgbClr val="262626"/>
                </a:solidFill>
                <a:latin typeface="メイリオ"/>
              </a:rPr>
              <a:t>Claude.ai では CLAUDE.md が読み込まれないため、出典URLを表示するには Projects のカスタム指示（「手順」欄） に以下を追加する。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143760"/>
            <a:ext cx="10698480" cy="56261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143760"/>
            <a:ext cx="54864" cy="56261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35200"/>
            <a:ext cx="10058400" cy="3797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62626"/>
                </a:solidFill>
                <a:latin typeface="Courier New"/>
              </a:rPr>
              <a:t>気象庁MCPサーバー（jma-mcp-renderコネクタ）のツール結果を使って回答する際は、ツール結果の末尾にある「出典: 気象庁 https://...」のURLを必ず末尾にそのまま表示すること。URLを省略・変更しないこと。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889250"/>
            <a:ext cx="10698480" cy="8229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2889250"/>
            <a:ext cx="54864" cy="82296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962402"/>
            <a:ext cx="10332720" cy="6766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600" b="0">
                <a:solidFill>
                  <a:srgbClr val="1F497D"/>
                </a:solidFill>
                <a:latin typeface="メイリオ"/>
              </a:rPr>
              <a:t>設定場所: claude.ai → プロジェクト → 手順を編集 Web版・デスクトップ・iPhone版すべてで共有される。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メイリオ"/>
              </a:rPr>
              <a:t>クライアント別対応状況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371600"/>
          <a:ext cx="10698480" cy="19944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74620"/>
                <a:gridCol w="2674620"/>
                <a:gridCol w="2674620"/>
                <a:gridCol w="2674620"/>
              </a:tblGrid>
              <a:tr h="32004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メイリオ"/>
                        </a:rPr>
                        <a:t>クライアント</a:t>
                      </a:r>
                    </a:p>
                  </a:txBody>
                  <a:tcPr anchor="ctr" marL="73152" marR="73152" marT="27432" marB="27432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メイリオ"/>
                        </a:rPr>
                        <a:t>MCP 対応</a:t>
                      </a:r>
                    </a:p>
                  </a:txBody>
                  <a:tcPr anchor="ctr" marL="73152" marR="73152" marT="27432" marB="27432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メイリオ"/>
                        </a:rPr>
                        <a:t>気象庁データ取得</a:t>
                      </a:r>
                    </a:p>
                  </a:txBody>
                  <a:tcPr anchor="ctr" marL="73152" marR="73152" marT="27432" marB="27432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メイリオ"/>
                        </a:rPr>
                        <a:t>備考</a:t>
                      </a:r>
                    </a:p>
                  </a:txBody>
                  <a:tcPr anchor="ctr" marL="73152" marR="73152" marT="27432" marB="27432">
                    <a:solidFill>
                      <a:srgbClr val="1F497D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メイリオ"/>
                        </a:rPr>
                        <a:t>Claude Code（CLI）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メイリオ"/>
                        </a:rPr>
                        <a:t>✅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メイリオ"/>
                        </a:rPr>
                        <a:t>✅ ローカル版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メイリオ"/>
                        </a:rPr>
                        <a:t>jma_mcp/.mcp.json を使用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メイリオ"/>
                        </a:rPr>
                        <a:t>Claude.ai Web版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メイリオ"/>
                        </a:rPr>
                        <a:t>✅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メイリオ"/>
                        </a:rPr>
                        <a:t>✅ リモート版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メイリオ"/>
                        </a:rPr>
                        <a:t>コネクタ登録済み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714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メイリオ"/>
                        </a:rPr>
                        <a:t>Claude デスクトップアプリ（macOS）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メイリオ"/>
                        </a:rPr>
                        <a:t>✅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メイリオ"/>
                        </a:rPr>
                        <a:t>✅ リモート版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メイリオ"/>
                        </a:rPr>
                        <a:t>Web版と設定共有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714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メイリオ"/>
                        </a:rPr>
                        <a:t>Claude iPhone版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メイリオ"/>
                        </a:rPr>
                        <a:t>✅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メイリオ"/>
                        </a:rPr>
                        <a:t>✅ リモート版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メイリオ"/>
                        </a:rPr>
                        <a:t>コネクタをONにすれば動作。2026-04-23 動作確認済み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メイリオ"/>
              </a:rPr>
              <a:t>注意事項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3281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>
                <a:solidFill>
                  <a:srgbClr val="262626"/>
                </a:solidFill>
                <a:latin typeface="メイリオ"/>
              </a:rPr>
              <a:t>Render 無料プランのスリープ</a:t>
            </a:r>
          </a:p>
          <a:p>
            <a:pPr algn="l"/>
            <a:r>
              <a:rPr sz="2200" b="0">
                <a:solidFill>
                  <a:srgbClr val="262626"/>
                </a:solidFill>
                <a:latin typeface="メイリオ"/>
              </a:rPr>
              <a:t/>
            </a:r>
          </a:p>
          <a:p>
            <a:pPr algn="l"/>
            <a:r>
              <a:rPr sz="2200" b="0">
                <a:solidFill>
                  <a:srgbClr val="262626"/>
                </a:solidFill>
                <a:latin typeface="メイリオ"/>
              </a:rPr>
              <a:t>・15分間アクセスがないとスリープ状態になる</a:t>
            </a:r>
          </a:p>
          <a:p>
            <a:pPr algn="l"/>
            <a:r>
              <a:rPr sz="2200" b="0">
                <a:solidFill>
                  <a:srgbClr val="262626"/>
                </a:solidFill>
                <a:latin typeface="メイリオ"/>
              </a:rPr>
              <a:t>・次のアクセス時に起動まで 30〜60秒 かかる</a:t>
            </a:r>
          </a:p>
          <a:p>
            <a:pPr algn="l"/>
            <a:r>
              <a:rPr sz="2200" b="0">
                <a:solidFill>
                  <a:srgbClr val="262626"/>
                </a:solidFill>
                <a:latin typeface="メイリオ"/>
              </a:rPr>
              <a:t>・接続タイムアウトになる場合は少し待って再試行</a:t>
            </a:r>
          </a:p>
          <a:p>
            <a:pPr algn="l"/>
            <a:r>
              <a:rPr sz="2200" b="0">
                <a:solidFill>
                  <a:srgbClr val="262626"/>
                </a:solidFill>
                <a:latin typeface="メイリオ"/>
              </a:rPr>
              <a:t/>
            </a:r>
          </a:p>
          <a:p>
            <a:pPr algn="l"/>
            <a:r>
              <a:rPr sz="2200" b="0">
                <a:solidFill>
                  <a:srgbClr val="262626"/>
                </a:solidFill>
                <a:latin typeface="メイリオ"/>
              </a:rPr>
              <a:t>server.py の更新</a:t>
            </a:r>
          </a:p>
          <a:p>
            <a:pPr algn="l"/>
            <a:r>
              <a:rPr sz="2200" b="0">
                <a:solidFill>
                  <a:srgbClr val="262626"/>
                </a:solidFill>
                <a:latin typeface="メイリオ"/>
              </a:rPr>
              <a:t/>
            </a:r>
          </a:p>
          <a:p>
            <a:pPr algn="l"/>
            <a:r>
              <a:rPr sz="2200" b="0">
                <a:solidFill>
                  <a:srgbClr val="262626"/>
                </a:solidFill>
                <a:latin typeface="メイリオ"/>
              </a:rPr>
              <a:t>jma_mcp/server.py にツールを追加した場合は jma_mcp_remote/server.py にも反映すること。</a:t>
            </a:r>
          </a:p>
          <a:p>
            <a:pPr algn="l"/>
            <a:r>
              <a:rPr sz="2200" b="0">
                <a:solidFill>
                  <a:srgbClr val="262626"/>
                </a:solidFill>
                <a:latin typeface="メイリオ"/>
              </a:rPr>
              <a:t/>
            </a:r>
          </a:p>
          <a:p>
            <a:pPr algn="l"/>
            <a:r>
              <a:rPr sz="2200" b="0">
                <a:solidFill>
                  <a:srgbClr val="262626"/>
                </a:solidFill>
                <a:latin typeface="メイリオ"/>
              </a:rPr>
              <a:t>差分は起動部分（main() → create_app()）のみ。ツールの実装は同一。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